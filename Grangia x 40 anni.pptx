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8" r:id="rId3"/>
    <p:sldId id="264" r:id="rId4"/>
    <p:sldId id="259" r:id="rId5"/>
    <p:sldId id="261" r:id="rId6"/>
    <p:sldId id="262" r:id="rId7"/>
    <p:sldId id="263" r:id="rId8"/>
    <p:sldId id="265" r:id="rId9"/>
    <p:sldId id="266" r:id="rId10"/>
    <p:sldId id="267" r:id="rId11"/>
    <p:sldId id="268" r:id="rId12"/>
    <p:sldId id="269" r:id="rId13"/>
    <p:sldId id="271" r:id="rId14"/>
    <p:sldId id="272" r:id="rId15"/>
    <p:sldId id="273" r:id="rId16"/>
    <p:sldId id="274" r:id="rId17"/>
    <p:sldId id="277" r:id="rId18"/>
    <p:sldId id="278" r:id="rId19"/>
    <p:sldId id="283" r:id="rId20"/>
    <p:sldId id="279" r:id="rId21"/>
    <p:sldId id="280" r:id="rId22"/>
    <p:sldId id="275" r:id="rId23"/>
    <p:sldId id="281" r:id="rId24"/>
    <p:sldId id="282" r:id="rId2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5321D6-B4FF-4042-AABD-C1B575FDF3AD}" type="datetimeFigureOut">
              <a:rPr lang="it-IT" smtClean="0"/>
              <a:t>10/09/2026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9B68F3-A852-4277-BBB2-04ABA00AA9B5}" type="slidenum">
              <a:rPr lang="it-IT" smtClean="0"/>
              <a:t>‹N›</a:t>
            </a:fld>
            <a:endParaRPr lang="it-IT"/>
          </a:p>
        </p:txBody>
      </p:sp>
    </p:spTree>
    <p:extLst>
      <p:ext uri="{BB962C8B-B14F-4D97-AF65-F5344CB8AC3E}">
        <p14:creationId xmlns:p14="http://schemas.microsoft.com/office/powerpoint/2010/main" val="3033340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79A3A-3378-D308-84EA-5E2CDC70E2E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7710022-B211-CC90-F5D8-91E5BDD1829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9CA7F1C-023F-4C7A-7B14-08615C4392F4}"/>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F6065AC-D08A-A34E-6E1E-1B385BD3D7F0}"/>
              </a:ext>
            </a:extLst>
          </p:cNvPr>
          <p:cNvSpPr>
            <a:spLocks noGrp="1"/>
          </p:cNvSpPr>
          <p:nvPr>
            <p:ph type="sldNum" sz="quarter" idx="5"/>
          </p:nvPr>
        </p:nvSpPr>
        <p:spPr/>
        <p:txBody>
          <a:bodyPr/>
          <a:lstStyle/>
          <a:p>
            <a:fld id="{E39B68F3-A852-4277-BBB2-04ABA00AA9B5}" type="slidenum">
              <a:rPr lang="it-IT" smtClean="0"/>
              <a:t>19</a:t>
            </a:fld>
            <a:endParaRPr lang="it-IT"/>
          </a:p>
        </p:txBody>
      </p:sp>
    </p:spTree>
    <p:extLst>
      <p:ext uri="{BB962C8B-B14F-4D97-AF65-F5344CB8AC3E}">
        <p14:creationId xmlns:p14="http://schemas.microsoft.com/office/powerpoint/2010/main" val="337069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39B68F3-A852-4277-BBB2-04ABA00AA9B5}" type="slidenum">
              <a:rPr lang="it-IT" smtClean="0"/>
              <a:t>22</a:t>
            </a:fld>
            <a:endParaRPr lang="it-IT"/>
          </a:p>
        </p:txBody>
      </p:sp>
    </p:spTree>
    <p:extLst>
      <p:ext uri="{BB962C8B-B14F-4D97-AF65-F5344CB8AC3E}">
        <p14:creationId xmlns:p14="http://schemas.microsoft.com/office/powerpoint/2010/main" val="3228378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8557A-013B-46CC-E5AD-500FA559F58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53D78D9-B682-D2BB-63E2-B957239E991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EE6536F-30B5-0510-DC2A-700C2C18640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BB927A09-E52A-F0D2-F7FB-27B26EE083FB}"/>
              </a:ext>
            </a:extLst>
          </p:cNvPr>
          <p:cNvSpPr>
            <a:spLocks noGrp="1"/>
          </p:cNvSpPr>
          <p:nvPr>
            <p:ph type="sldNum" sz="quarter" idx="5"/>
          </p:nvPr>
        </p:nvSpPr>
        <p:spPr/>
        <p:txBody>
          <a:bodyPr/>
          <a:lstStyle/>
          <a:p>
            <a:fld id="{E39B68F3-A852-4277-BBB2-04ABA00AA9B5}" type="slidenum">
              <a:rPr lang="it-IT" smtClean="0"/>
              <a:t>23</a:t>
            </a:fld>
            <a:endParaRPr lang="it-IT"/>
          </a:p>
        </p:txBody>
      </p:sp>
    </p:spTree>
    <p:extLst>
      <p:ext uri="{BB962C8B-B14F-4D97-AF65-F5344CB8AC3E}">
        <p14:creationId xmlns:p14="http://schemas.microsoft.com/office/powerpoint/2010/main" val="3855324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B93E5-6582-8B25-C62B-1DADB981A2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C5D582E-2F40-0082-DE2B-A16547639B6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45AC6D2-5810-44B3-0E2B-8E3B26E52651}"/>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DC4A2A0-CF58-4B00-7878-93FFF7A6B17D}"/>
              </a:ext>
            </a:extLst>
          </p:cNvPr>
          <p:cNvSpPr>
            <a:spLocks noGrp="1"/>
          </p:cNvSpPr>
          <p:nvPr>
            <p:ph type="sldNum" sz="quarter" idx="5"/>
          </p:nvPr>
        </p:nvSpPr>
        <p:spPr/>
        <p:txBody>
          <a:bodyPr/>
          <a:lstStyle/>
          <a:p>
            <a:fld id="{E39B68F3-A852-4277-BBB2-04ABA00AA9B5}" type="slidenum">
              <a:rPr lang="it-IT" smtClean="0"/>
              <a:t>24</a:t>
            </a:fld>
            <a:endParaRPr lang="it-IT"/>
          </a:p>
        </p:txBody>
      </p:sp>
    </p:spTree>
    <p:extLst>
      <p:ext uri="{BB962C8B-B14F-4D97-AF65-F5344CB8AC3E}">
        <p14:creationId xmlns:p14="http://schemas.microsoft.com/office/powerpoint/2010/main" val="2635632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86099D-26A6-5AC1-7B66-DC6F9C3CD04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9A79DC1-8E55-88FB-F28F-8FF07253BD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A42470B-9AF2-2370-DDBC-0DBD126EBBE4}"/>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5" name="Segnaposto piè di pagina 4">
            <a:extLst>
              <a:ext uri="{FF2B5EF4-FFF2-40B4-BE49-F238E27FC236}">
                <a16:creationId xmlns:a16="http://schemas.microsoft.com/office/drawing/2014/main" id="{947D3A7B-A5C9-E76F-EA8E-D17E5B73A3A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FB118A7-C546-D4CF-7D09-0D29F0583102}"/>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582753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F45FC4-BA0F-14C0-CC9F-CDBD3A6097A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E34EBDF-7666-0A41-AB0B-06D717657FE3}"/>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C017FCE-54AD-FEA5-2D2D-AA62A9358E75}"/>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5" name="Segnaposto piè di pagina 4">
            <a:extLst>
              <a:ext uri="{FF2B5EF4-FFF2-40B4-BE49-F238E27FC236}">
                <a16:creationId xmlns:a16="http://schemas.microsoft.com/office/drawing/2014/main" id="{5F0C8EF8-54BB-9312-48FA-A625C017191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EA0A19B-BB9A-81F4-D0BB-70CEE8BDDE8A}"/>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762751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F3475F-95AC-B876-49A2-9AC9F1F90930}"/>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BF53C25D-5712-345B-BC4C-C306DBC84A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B0E0F36A-0D02-C9CC-B6F4-5410D96BB15C}"/>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5" name="Segnaposto piè di pagina 4">
            <a:extLst>
              <a:ext uri="{FF2B5EF4-FFF2-40B4-BE49-F238E27FC236}">
                <a16:creationId xmlns:a16="http://schemas.microsoft.com/office/drawing/2014/main" id="{F4AFBE86-F2AE-9BFB-FEA9-B72F1DBA84E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B3F70BD-8ECB-15C2-5DD8-EE6232607336}"/>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9777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C40844-0A0E-0F6E-77CB-313F13D1AF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5E60507-592B-D7E2-74B1-77DFDCE989B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DC88A54-88D7-BAE5-8BED-3B091C1C5DB5}"/>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3B8853D6-5A2E-AFF5-89F0-3D08FF230DC6}"/>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6" name="Segnaposto piè di pagina 5">
            <a:extLst>
              <a:ext uri="{FF2B5EF4-FFF2-40B4-BE49-F238E27FC236}">
                <a16:creationId xmlns:a16="http://schemas.microsoft.com/office/drawing/2014/main" id="{92CDF7BE-0B39-8240-3F70-F9343AD33E5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75651F7-6689-C60A-74A1-9D0B33804727}"/>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85518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9A82AE-1C0B-CB73-01F0-E72F48B99046}"/>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156A359-3435-F32B-EE3C-C65EABA55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00BF359-935D-CEEC-930E-C4D1F5A1833C}"/>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6881D038-B26F-1CB1-8505-E11D019E8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873532C-E3A8-C76F-747D-0D9C91FEE976}"/>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BBBBA4A5-1094-22B5-253D-E65019D1D00A}"/>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8" name="Segnaposto piè di pagina 7">
            <a:extLst>
              <a:ext uri="{FF2B5EF4-FFF2-40B4-BE49-F238E27FC236}">
                <a16:creationId xmlns:a16="http://schemas.microsoft.com/office/drawing/2014/main" id="{4505830B-4724-995E-566D-2BFDC2F543E2}"/>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8B31C2FE-4A35-A204-CDD3-CBCB98107E42}"/>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558041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562C05-56D4-99F1-264D-D84718D5D0B6}"/>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23DD66F-F4FE-E66B-E5B6-0754D563580D}"/>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4" name="Segnaposto piè di pagina 3">
            <a:extLst>
              <a:ext uri="{FF2B5EF4-FFF2-40B4-BE49-F238E27FC236}">
                <a16:creationId xmlns:a16="http://schemas.microsoft.com/office/drawing/2014/main" id="{72E9D673-00C0-C348-FE30-5F807227178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BA19B9C-4617-0A0F-1C4F-0B454C7A3364}"/>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2616300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942F86A-5DD9-F37B-F7E4-597E5E77A33D}"/>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3" name="Segnaposto piè di pagina 2">
            <a:extLst>
              <a:ext uri="{FF2B5EF4-FFF2-40B4-BE49-F238E27FC236}">
                <a16:creationId xmlns:a16="http://schemas.microsoft.com/office/drawing/2014/main" id="{74E729FD-63B0-9581-4B60-6F19D6C2F9AE}"/>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915F1896-3243-55BD-3D1C-61197CDCFDC2}"/>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433558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5E0ECB-6001-872F-0DC9-1C2E4D5D500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AACA1EA-D66D-B6A4-078E-0F5FB7B21A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A38BDF5-81F5-816C-968E-F844A16894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430A393-5A93-D462-3ADF-CBD8AF4AED26}"/>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6" name="Segnaposto piè di pagina 5">
            <a:extLst>
              <a:ext uri="{FF2B5EF4-FFF2-40B4-BE49-F238E27FC236}">
                <a16:creationId xmlns:a16="http://schemas.microsoft.com/office/drawing/2014/main" id="{E2355CC0-3A05-DC78-F186-98F4D7A49E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C20DEB1-5C46-0945-D4DD-84C7A4891F06}"/>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75897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3705FB-2BCC-0EE1-70A8-FA0147D2C98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DC32AB6-F017-C3CB-1296-1BBBED882E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BC038BBC-8DE2-FD1F-363D-6848A1900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7CEFBF55-F741-CF13-59EF-42A81C0BDF07}"/>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6" name="Segnaposto piè di pagina 5">
            <a:extLst>
              <a:ext uri="{FF2B5EF4-FFF2-40B4-BE49-F238E27FC236}">
                <a16:creationId xmlns:a16="http://schemas.microsoft.com/office/drawing/2014/main" id="{A2926A61-4973-FFEA-8C13-5FF6C4003F1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F36AB59-B52B-3E0D-2C4E-7D329DEC4191}"/>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290231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5C23A4-0810-B2BB-2475-03E234AB23B5}"/>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F3C31E8-D1FE-94F9-3243-50EC52B71015}"/>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F720F26-698A-444B-4BBC-663A15CF1C2F}"/>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5" name="Segnaposto piè di pagina 4">
            <a:extLst>
              <a:ext uri="{FF2B5EF4-FFF2-40B4-BE49-F238E27FC236}">
                <a16:creationId xmlns:a16="http://schemas.microsoft.com/office/drawing/2014/main" id="{1D309475-7CF9-965C-D768-7BFF5C441F6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3621C3-B9E8-3972-3844-0569E982D09F}"/>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761901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04DD2914-12B5-349B-D131-A01E2CDB7132}"/>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0B8C030-A698-E918-EDF1-391D4E9BA9B7}"/>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4A923A2-97AD-6A72-733B-C8C23291601F}"/>
              </a:ext>
            </a:extLst>
          </p:cNvPr>
          <p:cNvSpPr>
            <a:spLocks noGrp="1"/>
          </p:cNvSpPr>
          <p:nvPr>
            <p:ph type="dt" sz="half" idx="10"/>
          </p:nvPr>
        </p:nvSpPr>
        <p:spPr/>
        <p:txBody>
          <a:bodyPr/>
          <a:lstStyle/>
          <a:p>
            <a:fld id="{79278215-226C-4D49-B729-5CC4015CF1CE}" type="datetimeFigureOut">
              <a:rPr lang="it-IT" smtClean="0"/>
              <a:t>10/09/2026</a:t>
            </a:fld>
            <a:endParaRPr lang="it-IT"/>
          </a:p>
        </p:txBody>
      </p:sp>
      <p:sp>
        <p:nvSpPr>
          <p:cNvPr id="5" name="Segnaposto piè di pagina 4">
            <a:extLst>
              <a:ext uri="{FF2B5EF4-FFF2-40B4-BE49-F238E27FC236}">
                <a16:creationId xmlns:a16="http://schemas.microsoft.com/office/drawing/2014/main" id="{AC9AD867-25E5-39AA-8501-DCAFD9F27D1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608B054-E5C4-C774-5F23-1AD7145BF41A}"/>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26598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FAA51CC-7962-6607-D5B5-18B67831DA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ED7E71E-A003-8D3C-E68F-48B58E387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0182503-4B16-9A75-264A-38166FCF9E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278215-226C-4D49-B729-5CC4015CF1CE}" type="datetimeFigureOut">
              <a:rPr lang="it-IT" smtClean="0"/>
              <a:t>10/09/2026</a:t>
            </a:fld>
            <a:endParaRPr lang="it-IT"/>
          </a:p>
        </p:txBody>
      </p:sp>
      <p:sp>
        <p:nvSpPr>
          <p:cNvPr id="5" name="Segnaposto piè di pagina 4">
            <a:extLst>
              <a:ext uri="{FF2B5EF4-FFF2-40B4-BE49-F238E27FC236}">
                <a16:creationId xmlns:a16="http://schemas.microsoft.com/office/drawing/2014/main" id="{AEC1A350-2C94-8414-516F-DE3F8368F7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8B3E296B-EEE2-4584-7F47-1C51BDA0F1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161A4D-CD85-4DE1-881A-9AD99E17706B}" type="slidenum">
              <a:rPr lang="it-IT" smtClean="0"/>
              <a:t>‹N›</a:t>
            </a:fld>
            <a:endParaRPr lang="it-IT"/>
          </a:p>
        </p:txBody>
      </p:sp>
    </p:spTree>
    <p:extLst>
      <p:ext uri="{BB962C8B-B14F-4D97-AF65-F5344CB8AC3E}">
        <p14:creationId xmlns:p14="http://schemas.microsoft.com/office/powerpoint/2010/main" val="1912951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653811-4608-F144-A825-AE815F2ACA54}"/>
              </a:ext>
            </a:extLst>
          </p:cNvPr>
          <p:cNvSpPr>
            <a:spLocks noGrp="1"/>
          </p:cNvSpPr>
          <p:nvPr>
            <p:ph type="ctrTitle"/>
          </p:nvPr>
        </p:nvSpPr>
        <p:spPr>
          <a:xfrm>
            <a:off x="555522" y="688259"/>
            <a:ext cx="11080955" cy="5309266"/>
          </a:xfrm>
        </p:spPr>
        <p:txBody>
          <a:bodyPr>
            <a:normAutofit fontScale="90000"/>
          </a:bodyPr>
          <a:lstStyle/>
          <a:p>
            <a:r>
              <a:rPr lang="it-IT" b="1" dirty="0">
                <a:latin typeface="Calibri" panose="020F0502020204030204" pitchFamily="34" charset="0"/>
                <a:ea typeface="Calibri" panose="020F0502020204030204" pitchFamily="34" charset="0"/>
                <a:cs typeface="Calibri" panose="020F0502020204030204" pitchFamily="34" charset="0"/>
              </a:rPr>
              <a:t>Buongiorno</a:t>
            </a:r>
            <a:r>
              <a:rPr lang="it-IT" dirty="0">
                <a:latin typeface="Calibri" panose="020F0502020204030204" pitchFamily="34" charset="0"/>
                <a:ea typeface="Calibri" panose="020F0502020204030204" pitchFamily="34" charset="0"/>
                <a:cs typeface="Calibri" panose="020F0502020204030204" pitchFamily="34" charset="0"/>
              </a:rPr>
              <a:t>, </a:t>
            </a:r>
            <a:br>
              <a:rPr lang="it-IT" dirty="0">
                <a:latin typeface="Calibri" panose="020F0502020204030204" pitchFamily="34" charset="0"/>
                <a:ea typeface="Calibri" panose="020F0502020204030204" pitchFamily="34" charset="0"/>
                <a:cs typeface="Calibri" panose="020F0502020204030204" pitchFamily="34" charset="0"/>
              </a:rPr>
            </a:br>
            <a:r>
              <a:rPr lang="it-IT" dirty="0">
                <a:latin typeface="Calibri" panose="020F0502020204030204" pitchFamily="34" charset="0"/>
                <a:ea typeface="Calibri" panose="020F0502020204030204" pitchFamily="34" charset="0"/>
                <a:cs typeface="Calibri" panose="020F0502020204030204" pitchFamily="34" charset="0"/>
              </a:rPr>
              <a:t>sei pronto per immergerti in un’</a:t>
            </a:r>
            <a:r>
              <a:rPr lang="it-IT" b="1" dirty="0">
                <a:latin typeface="Calibri" panose="020F0502020204030204" pitchFamily="34" charset="0"/>
                <a:ea typeface="Calibri" panose="020F0502020204030204" pitchFamily="34" charset="0"/>
                <a:cs typeface="Calibri" panose="020F0502020204030204" pitchFamily="34" charset="0"/>
              </a:rPr>
              <a:t>esperienza riflessiva</a:t>
            </a:r>
            <a:r>
              <a:rPr lang="it-IT" dirty="0">
                <a:latin typeface="Calibri" panose="020F0502020204030204" pitchFamily="34" charset="0"/>
                <a:ea typeface="Calibri" panose="020F0502020204030204" pitchFamily="34" charset="0"/>
                <a:cs typeface="Calibri" panose="020F0502020204030204" pitchFamily="34" charset="0"/>
              </a:rPr>
              <a:t>?</a:t>
            </a:r>
            <a:br>
              <a:rPr lang="it-IT" dirty="0">
                <a:latin typeface="Calibri" panose="020F0502020204030204" pitchFamily="34" charset="0"/>
                <a:ea typeface="Calibri" panose="020F0502020204030204" pitchFamily="34" charset="0"/>
                <a:cs typeface="Calibri" panose="020F0502020204030204" pitchFamily="34" charset="0"/>
              </a:rPr>
            </a:br>
            <a:br>
              <a:rPr lang="it-IT" dirty="0">
                <a:latin typeface="Calibri" panose="020F0502020204030204" pitchFamily="34" charset="0"/>
                <a:ea typeface="Calibri" panose="020F0502020204030204" pitchFamily="34" charset="0"/>
                <a:cs typeface="Calibri" panose="020F0502020204030204" pitchFamily="34" charset="0"/>
              </a:rPr>
            </a:br>
            <a:r>
              <a:rPr lang="it-IT" dirty="0">
                <a:latin typeface="Calibri" panose="020F0502020204030204" pitchFamily="34" charset="0"/>
                <a:ea typeface="Calibri" panose="020F0502020204030204" pitchFamily="34" charset="0"/>
                <a:cs typeface="Calibri" panose="020F0502020204030204" pitchFamily="34" charset="0"/>
              </a:rPr>
              <a:t>Ti anticipiamo che sarà un po’ </a:t>
            </a:r>
            <a:r>
              <a:rPr lang="it-IT" b="1" dirty="0">
                <a:latin typeface="Calibri" panose="020F0502020204030204" pitchFamily="34" charset="0"/>
                <a:ea typeface="Calibri" panose="020F0502020204030204" pitchFamily="34" charset="0"/>
                <a:cs typeface="Calibri" panose="020F0502020204030204" pitchFamily="34" charset="0"/>
              </a:rPr>
              <a:t>impegnativa</a:t>
            </a:r>
            <a:r>
              <a:rPr lang="it-IT" dirty="0">
                <a:latin typeface="Calibri" panose="020F0502020204030204" pitchFamily="34" charset="0"/>
                <a:ea typeface="Calibri" panose="020F0502020204030204" pitchFamily="34" charset="0"/>
                <a:cs typeface="Calibri" panose="020F0502020204030204" pitchFamily="34" charset="0"/>
              </a:rPr>
              <a:t>, ma crediamo possa avere un </a:t>
            </a:r>
            <a:r>
              <a:rPr lang="it-IT" b="1" dirty="0">
                <a:latin typeface="Calibri" panose="020F0502020204030204" pitchFamily="34" charset="0"/>
                <a:ea typeface="Calibri" panose="020F0502020204030204" pitchFamily="34" charset="0"/>
                <a:cs typeface="Calibri" panose="020F0502020204030204" pitchFamily="34" charset="0"/>
              </a:rPr>
              <a:t>forte valore</a:t>
            </a:r>
            <a:r>
              <a:rPr lang="it-IT"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849280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E8DEA041-190D-D3B6-568B-95A804E4F7F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78944A-807F-6C3C-A9B4-84E3948EA651}"/>
              </a:ext>
            </a:extLst>
          </p:cNvPr>
          <p:cNvSpPr>
            <a:spLocks noGrp="1"/>
          </p:cNvSpPr>
          <p:nvPr>
            <p:ph type="ctrTitle"/>
          </p:nvPr>
        </p:nvSpPr>
        <p:spPr>
          <a:xfrm>
            <a:off x="1524000" y="813696"/>
            <a:ext cx="9144000" cy="4463692"/>
          </a:xfrm>
        </p:spPr>
        <p:txBody>
          <a:bodyPr>
            <a:normAutofit fontScale="90000"/>
          </a:bodyPr>
          <a:lstStyle/>
          <a:p>
            <a:r>
              <a:rPr lang="it-IT" dirty="0">
                <a:latin typeface="Calibri" panose="020F0502020204030204" pitchFamily="34" charset="0"/>
                <a:ea typeface="Calibri" panose="020F0502020204030204" pitchFamily="34" charset="0"/>
                <a:cs typeface="Calibri" panose="020F0502020204030204" pitchFamily="34" charset="0"/>
              </a:rPr>
              <a:t>Se sei ancora qui è perché hai accettato il nostro invito…</a:t>
            </a:r>
            <a:br>
              <a:rPr lang="it-IT" dirty="0">
                <a:latin typeface="Calibri" panose="020F0502020204030204" pitchFamily="34" charset="0"/>
                <a:ea typeface="Calibri" panose="020F0502020204030204" pitchFamily="34" charset="0"/>
                <a:cs typeface="Calibri" panose="020F0502020204030204" pitchFamily="34" charset="0"/>
              </a:rPr>
            </a:br>
            <a:br>
              <a:rPr lang="it-IT" dirty="0">
                <a:latin typeface="Calibri" panose="020F0502020204030204" pitchFamily="34" charset="0"/>
                <a:ea typeface="Calibri" panose="020F0502020204030204" pitchFamily="34" charset="0"/>
                <a:cs typeface="Calibri" panose="020F0502020204030204" pitchFamily="34" charset="0"/>
              </a:rPr>
            </a:br>
            <a:r>
              <a:rPr lang="it-IT" sz="10700" b="1" dirty="0">
                <a:latin typeface="Calibri" panose="020F0502020204030204" pitchFamily="34" charset="0"/>
                <a:ea typeface="Calibri" panose="020F0502020204030204" pitchFamily="34" charset="0"/>
                <a:cs typeface="Calibri" panose="020F0502020204030204" pitchFamily="34" charset="0"/>
              </a:rPr>
              <a:t>BUON VIAGGIO!</a:t>
            </a:r>
            <a:endParaRPr lang="it-IT"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80115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CAA5E329-5AD3-BCBC-40CF-394E3F6C35E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62BBA85-7519-E573-C6DD-C6FF8290AC7C}"/>
              </a:ext>
            </a:extLst>
          </p:cNvPr>
          <p:cNvSpPr>
            <a:spLocks noGrp="1"/>
          </p:cNvSpPr>
          <p:nvPr>
            <p:ph type="ctrTitle"/>
          </p:nvPr>
        </p:nvSpPr>
        <p:spPr>
          <a:xfrm>
            <a:off x="1855703" y="738985"/>
            <a:ext cx="10078065" cy="5830530"/>
          </a:xfrm>
        </p:spPr>
        <p:txBody>
          <a:bodyPr>
            <a:noAutofit/>
          </a:bodyPr>
          <a:lstStyle/>
          <a:p>
            <a:r>
              <a:rPr lang="it-IT" sz="5000" dirty="0">
                <a:latin typeface="Calibri" panose="020F0502020204030204" pitchFamily="34" charset="0"/>
                <a:ea typeface="Calibri" panose="020F0502020204030204" pitchFamily="34" charset="0"/>
                <a:cs typeface="Calibri" panose="020F0502020204030204" pitchFamily="34" charset="0"/>
              </a:rPr>
              <a:t>Nel corso della storia,  troverai alcune </a:t>
            </a:r>
            <a:r>
              <a:rPr lang="it-IT" sz="5000" b="1" dirty="0">
                <a:latin typeface="Calibri" panose="020F0502020204030204" pitchFamily="34" charset="0"/>
                <a:ea typeface="Calibri" panose="020F0502020204030204" pitchFamily="34" charset="0"/>
                <a:cs typeface="Calibri" panose="020F0502020204030204" pitchFamily="34" charset="0"/>
              </a:rPr>
              <a:t>domande</a:t>
            </a:r>
            <a:r>
              <a:rPr lang="it-IT" sz="5000" dirty="0">
                <a:latin typeface="Calibri" panose="020F0502020204030204" pitchFamily="34" charset="0"/>
                <a:ea typeface="Calibri" panose="020F0502020204030204" pitchFamily="34" charset="0"/>
                <a:cs typeface="Calibri" panose="020F0502020204030204" pitchFamily="34" charset="0"/>
              </a:rPr>
              <a:t> che guideranno il tuo pensiero…</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Di volta in volta ti indicheremo il colore di un </a:t>
            </a:r>
            <a:r>
              <a:rPr lang="it-IT" sz="5000" b="1" dirty="0">
                <a:latin typeface="Calibri" panose="020F0502020204030204" pitchFamily="34" charset="0"/>
                <a:ea typeface="Calibri" panose="020F0502020204030204" pitchFamily="34" charset="0"/>
                <a:cs typeface="Calibri" panose="020F0502020204030204" pitchFamily="34" charset="0"/>
              </a:rPr>
              <a:t>foglietto</a:t>
            </a:r>
            <a:r>
              <a:rPr lang="it-IT" sz="5000" dirty="0">
                <a:latin typeface="Calibri" panose="020F0502020204030204" pitchFamily="34" charset="0"/>
                <a:ea typeface="Calibri" panose="020F0502020204030204" pitchFamily="34" charset="0"/>
                <a:cs typeface="Calibri" panose="020F0502020204030204" pitchFamily="34" charset="0"/>
              </a:rPr>
              <a:t> su cui scrivere le risposte in modo anonimo, poi potrai riporre il foglietto nella </a:t>
            </a:r>
            <a:r>
              <a:rPr lang="it-IT" sz="5000" b="1" dirty="0">
                <a:latin typeface="Calibri" panose="020F0502020204030204" pitchFamily="34" charset="0"/>
                <a:ea typeface="Calibri" panose="020F0502020204030204" pitchFamily="34" charset="0"/>
                <a:cs typeface="Calibri" panose="020F0502020204030204" pitchFamily="34" charset="0"/>
              </a:rPr>
              <a:t>scatola</a:t>
            </a:r>
            <a:r>
              <a:rPr lang="it-IT" sz="5000" dirty="0">
                <a:latin typeface="Calibri" panose="020F0502020204030204" pitchFamily="34" charset="0"/>
                <a:ea typeface="Calibri" panose="020F0502020204030204" pitchFamily="34" charset="0"/>
                <a:cs typeface="Calibri" panose="020F0502020204030204" pitchFamily="34" charset="0"/>
              </a:rPr>
              <a:t> dello stesso colore.</a:t>
            </a:r>
          </a:p>
        </p:txBody>
      </p:sp>
      <p:pic>
        <p:nvPicPr>
          <p:cNvPr id="4" name="Immagine 3">
            <a:extLst>
              <a:ext uri="{FF2B5EF4-FFF2-40B4-BE49-F238E27FC236}">
                <a16:creationId xmlns:a16="http://schemas.microsoft.com/office/drawing/2014/main" id="{5A253FEE-6B4D-7BE3-1BD0-E6BA69399777}"/>
              </a:ext>
            </a:extLst>
          </p:cNvPr>
          <p:cNvPicPr>
            <a:picLocks noChangeAspect="1"/>
          </p:cNvPicPr>
          <p:nvPr/>
        </p:nvPicPr>
        <p:blipFill>
          <a:blip r:embed="rId2"/>
          <a:stretch>
            <a:fillRect/>
          </a:stretch>
        </p:blipFill>
        <p:spPr>
          <a:xfrm rot="19867048">
            <a:off x="-918425" y="1421593"/>
            <a:ext cx="3429259" cy="2340817"/>
          </a:xfrm>
          <a:prstGeom prst="rect">
            <a:avLst/>
          </a:prstGeom>
        </p:spPr>
      </p:pic>
    </p:spTree>
    <p:extLst>
      <p:ext uri="{BB962C8B-B14F-4D97-AF65-F5344CB8AC3E}">
        <p14:creationId xmlns:p14="http://schemas.microsoft.com/office/powerpoint/2010/main" val="2390498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FC79F963-072A-1416-C049-B9D28D958843}"/>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8B81BEE3-6542-5C9A-59DF-CB5E4129A816}"/>
              </a:ext>
            </a:extLst>
          </p:cNvPr>
          <p:cNvSpPr txBox="1">
            <a:spLocks/>
          </p:cNvSpPr>
          <p:nvPr/>
        </p:nvSpPr>
        <p:spPr>
          <a:xfrm>
            <a:off x="825908" y="796414"/>
            <a:ext cx="10707330" cy="50537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it-IT" sz="4800" i="1" dirty="0">
                <a:latin typeface="Calibri" panose="020F0502020204030204" pitchFamily="34" charset="0"/>
                <a:ea typeface="Calibri" panose="020F0502020204030204" pitchFamily="34" charset="0"/>
                <a:cs typeface="Calibri" panose="020F0502020204030204" pitchFamily="34" charset="0"/>
              </a:rPr>
              <a:t>Ti chiediamo di riflettere…</a:t>
            </a:r>
          </a:p>
          <a:p>
            <a:endParaRPr lang="it-IT" sz="4800" dirty="0">
              <a:latin typeface="Calibri" panose="020F0502020204030204" pitchFamily="34" charset="0"/>
              <a:ea typeface="Calibri" panose="020F0502020204030204" pitchFamily="34" charset="0"/>
              <a:cs typeface="Calibri" panose="020F0502020204030204" pitchFamily="34" charset="0"/>
            </a:endParaRPr>
          </a:p>
          <a:p>
            <a:r>
              <a:rPr lang="it-IT" sz="4800" i="1" dirty="0">
                <a:latin typeface="Calibri" panose="020F0502020204030204" pitchFamily="34" charset="0"/>
                <a:ea typeface="Calibri" panose="020F0502020204030204" pitchFamily="34" charset="0"/>
                <a:cs typeface="Calibri" panose="020F0502020204030204" pitchFamily="34" charset="0"/>
              </a:rPr>
              <a:t>Pensa qualche secondo alla </a:t>
            </a:r>
          </a:p>
          <a:p>
            <a:r>
              <a:rPr lang="it-IT" sz="4800" b="1" i="1" dirty="0">
                <a:latin typeface="Calibri" panose="020F0502020204030204" pitchFamily="34" charset="0"/>
                <a:ea typeface="Calibri" panose="020F0502020204030204" pitchFamily="34" charset="0"/>
                <a:cs typeface="Calibri" panose="020F0502020204030204" pitchFamily="34" charset="0"/>
              </a:rPr>
              <a:t>tua attuale vita</a:t>
            </a:r>
            <a:r>
              <a:rPr lang="it-IT" sz="4800" i="1" dirty="0">
                <a:latin typeface="Calibri" panose="020F0502020204030204" pitchFamily="34" charset="0"/>
                <a:ea typeface="Calibri" panose="020F0502020204030204" pitchFamily="34" charset="0"/>
                <a:cs typeface="Calibri" panose="020F0502020204030204" pitchFamily="34" charset="0"/>
              </a:rPr>
              <a:t>…</a:t>
            </a:r>
          </a:p>
          <a:p>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In questa storia, </a:t>
            </a:r>
            <a:r>
              <a:rPr lang="it-IT" sz="4800" b="1" dirty="0">
                <a:latin typeface="Calibri" panose="020F0502020204030204" pitchFamily="34" charset="0"/>
                <a:ea typeface="Calibri" panose="020F0502020204030204" pitchFamily="34" charset="0"/>
                <a:cs typeface="Calibri" panose="020F0502020204030204" pitchFamily="34" charset="0"/>
              </a:rPr>
              <a:t>sei proprio tu</a:t>
            </a:r>
            <a:r>
              <a:rPr lang="it-IT" sz="4800" dirty="0">
                <a:latin typeface="Calibri" panose="020F0502020204030204" pitchFamily="34" charset="0"/>
                <a:ea typeface="Calibri" panose="020F0502020204030204" pitchFamily="34" charset="0"/>
                <a:cs typeface="Calibri" panose="020F0502020204030204" pitchFamily="34" charset="0"/>
              </a:rPr>
              <a:t>, con le gioie e le fatiche che la vita porta con sé…</a:t>
            </a:r>
          </a:p>
        </p:txBody>
      </p:sp>
    </p:spTree>
    <p:extLst>
      <p:ext uri="{BB962C8B-B14F-4D97-AF65-F5344CB8AC3E}">
        <p14:creationId xmlns:p14="http://schemas.microsoft.com/office/powerpoint/2010/main" val="2049468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3D03134A-FFDA-0A71-D33A-C4A30121865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E51F0C-3FFD-BC3E-3151-1B13FD8E02AC}"/>
              </a:ext>
            </a:extLst>
          </p:cNvPr>
          <p:cNvSpPr>
            <a:spLocks noGrp="1"/>
          </p:cNvSpPr>
          <p:nvPr>
            <p:ph type="ctrTitle"/>
          </p:nvPr>
        </p:nvSpPr>
        <p:spPr>
          <a:xfrm>
            <a:off x="983227" y="147484"/>
            <a:ext cx="10392696" cy="6297562"/>
          </a:xfrm>
        </p:spPr>
        <p:txBody>
          <a:bodyPr>
            <a:normAutofit/>
          </a:bodyPr>
          <a:lstStyle/>
          <a:p>
            <a:r>
              <a:rPr lang="it-IT" sz="5000" dirty="0">
                <a:latin typeface="Calibri" panose="020F0502020204030204" pitchFamily="34" charset="0"/>
                <a:ea typeface="Calibri" panose="020F0502020204030204" pitchFamily="34" charset="0"/>
                <a:cs typeface="Calibri" panose="020F0502020204030204" pitchFamily="34" charset="0"/>
              </a:rPr>
              <a:t>Ora ti chiediamo di immaginare …</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Nella tua città e nel tuo stato ci sono </a:t>
            </a:r>
            <a:r>
              <a:rPr lang="it-IT" sz="5000" b="1" dirty="0">
                <a:latin typeface="Calibri" panose="020F0502020204030204" pitchFamily="34" charset="0"/>
                <a:ea typeface="Calibri" panose="020F0502020204030204" pitchFamily="34" charset="0"/>
                <a:cs typeface="Calibri" panose="020F0502020204030204" pitchFamily="34" charset="0"/>
              </a:rPr>
              <a:t>grandi problemi</a:t>
            </a:r>
            <a:r>
              <a:rPr lang="it-IT" sz="5000" dirty="0">
                <a:latin typeface="Calibri" panose="020F0502020204030204" pitchFamily="34" charset="0"/>
                <a:ea typeface="Calibri" panose="020F0502020204030204" pitchFamily="34" charset="0"/>
                <a:cs typeface="Calibri" panose="020F0502020204030204" pitchFamily="34" charset="0"/>
              </a:rPr>
              <a:t>, molto grandi…</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 un problema talmente grande che ha a che fare con la </a:t>
            </a:r>
            <a:r>
              <a:rPr lang="it-IT" sz="5000" b="1" dirty="0">
                <a:latin typeface="Calibri" panose="020F0502020204030204" pitchFamily="34" charset="0"/>
                <a:ea typeface="Calibri" panose="020F0502020204030204" pitchFamily="34" charset="0"/>
                <a:cs typeface="Calibri" panose="020F0502020204030204" pitchFamily="34" charset="0"/>
              </a:rPr>
              <a:t>sopravvivenza</a:t>
            </a:r>
            <a:r>
              <a:rPr lang="it-IT" sz="5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889064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78D213-D99E-3D7B-E70B-E2E9DE4253D7}"/>
              </a:ext>
            </a:extLst>
          </p:cNvPr>
          <p:cNvSpPr>
            <a:spLocks noGrp="1"/>
          </p:cNvSpPr>
          <p:nvPr>
            <p:ph type="ctrTitle"/>
          </p:nvPr>
        </p:nvSpPr>
        <p:spPr>
          <a:xfrm>
            <a:off x="924232" y="383458"/>
            <a:ext cx="10628671" cy="5702711"/>
          </a:xfrm>
        </p:spPr>
        <p:txBody>
          <a:bodyPr>
            <a:noAutofit/>
          </a:bodyPr>
          <a:lstStyle/>
          <a:p>
            <a:r>
              <a:rPr lang="it-IT" sz="5000" dirty="0">
                <a:latin typeface="Calibri" panose="020F0502020204030204" pitchFamily="34" charset="0"/>
                <a:ea typeface="Calibri" panose="020F0502020204030204" pitchFamily="34" charset="0"/>
                <a:cs typeface="Calibri" panose="020F0502020204030204" pitchFamily="34" charset="0"/>
              </a:rPr>
              <a:t>Prendi la decisione di </a:t>
            </a:r>
            <a:r>
              <a:rPr lang="it-IT" sz="5000" b="1" dirty="0">
                <a:latin typeface="Calibri" panose="020F0502020204030204" pitchFamily="34" charset="0"/>
                <a:ea typeface="Calibri" panose="020F0502020204030204" pitchFamily="34" charset="0"/>
                <a:cs typeface="Calibri" panose="020F0502020204030204" pitchFamily="34" charset="0"/>
              </a:rPr>
              <a:t>partire</a:t>
            </a:r>
            <a:r>
              <a:rPr lang="it-IT" sz="5000" dirty="0">
                <a:latin typeface="Calibri" panose="020F0502020204030204" pitchFamily="34" charset="0"/>
                <a:ea typeface="Calibri" panose="020F0502020204030204" pitchFamily="34" charset="0"/>
                <a:cs typeface="Calibri" panose="020F0502020204030204" pitchFamily="34" charset="0"/>
              </a:rPr>
              <a:t>, migrare, è la soluzione che ti sembra </a:t>
            </a:r>
            <a:r>
              <a:rPr lang="it-IT" sz="5000" b="1" dirty="0">
                <a:latin typeface="Calibri" panose="020F0502020204030204" pitchFamily="34" charset="0"/>
                <a:ea typeface="Calibri" panose="020F0502020204030204" pitchFamily="34" charset="0"/>
                <a:cs typeface="Calibri" panose="020F0502020204030204" pitchFamily="34" charset="0"/>
              </a:rPr>
              <a:t>migliore</a:t>
            </a:r>
            <a:r>
              <a:rPr lang="it-IT" sz="5000" dirty="0">
                <a:latin typeface="Calibri" panose="020F0502020204030204" pitchFamily="34" charset="0"/>
                <a:ea typeface="Calibri" panose="020F0502020204030204" pitchFamily="34" charset="0"/>
                <a:cs typeface="Calibri" panose="020F0502020204030204" pitchFamily="34" charset="0"/>
              </a:rPr>
              <a:t> viste le condizioni, non sai di preciso dove andrai…</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3600" i="1" dirty="0">
                <a:latin typeface="Calibri" panose="020F0502020204030204" pitchFamily="34" charset="0"/>
                <a:ea typeface="Calibri" panose="020F0502020204030204" pitchFamily="34" charset="0"/>
                <a:cs typeface="Calibri" panose="020F0502020204030204" pitchFamily="34" charset="0"/>
              </a:rPr>
              <a:t>Immagina: a prescindere dalla tua situazione familiare, le condizioni ti obbligano a partire in solitaria … sai che sarà complesso e tu provi la via per poi eventualmente facilitare altri componenti della tua famiglia.</a:t>
            </a:r>
            <a:endParaRPr lang="it-IT" sz="5000"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127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AB2C70-3719-FC24-2FC3-D73C7D8AA6C7}"/>
              </a:ext>
            </a:extLst>
          </p:cNvPr>
          <p:cNvSpPr>
            <a:spLocks noGrp="1"/>
          </p:cNvSpPr>
          <p:nvPr>
            <p:ph type="ctrTitle"/>
          </p:nvPr>
        </p:nvSpPr>
        <p:spPr>
          <a:xfrm>
            <a:off x="1248696" y="909074"/>
            <a:ext cx="10009239" cy="5511800"/>
          </a:xfrm>
        </p:spPr>
        <p:txBody>
          <a:bodyPr>
            <a:noAutofit/>
          </a:bodyPr>
          <a:lstStyle/>
          <a:p>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2800" dirty="0">
                <a:latin typeface="Calibri" panose="020F0502020204030204" pitchFamily="34" charset="0"/>
                <a:ea typeface="Calibri" panose="020F0502020204030204" pitchFamily="34" charset="0"/>
                <a:cs typeface="Calibri" panose="020F0502020204030204" pitchFamily="34" charset="0"/>
              </a:rPr>
              <a:t>Scrivi poche parole sul </a:t>
            </a: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b="1" dirty="0">
                <a:latin typeface="Calibri" panose="020F0502020204030204" pitchFamily="34" charset="0"/>
                <a:ea typeface="Calibri" panose="020F0502020204030204" pitchFamily="34" charset="0"/>
                <a:cs typeface="Calibri" panose="020F0502020204030204" pitchFamily="34" charset="0"/>
              </a:rPr>
              <a:t>FOGLIETTO ROSSO</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i="1" dirty="0">
                <a:latin typeface="Calibri" panose="020F0502020204030204" pitchFamily="34" charset="0"/>
                <a:ea typeface="Calibri" panose="020F0502020204030204" pitchFamily="34" charset="0"/>
                <a:cs typeface="Calibri" panose="020F0502020204030204" pitchFamily="34" charset="0"/>
              </a:rPr>
              <a:t>Quali </a:t>
            </a:r>
            <a:r>
              <a:rPr lang="it-IT" sz="5000" b="1" i="1" dirty="0">
                <a:latin typeface="Calibri" panose="020F0502020204030204" pitchFamily="34" charset="0"/>
                <a:ea typeface="Calibri" panose="020F0502020204030204" pitchFamily="34" charset="0"/>
                <a:cs typeface="Calibri" panose="020F0502020204030204" pitchFamily="34" charset="0"/>
              </a:rPr>
              <a:t>emozioni</a:t>
            </a:r>
            <a:r>
              <a:rPr lang="it-IT" sz="5000" i="1" dirty="0">
                <a:latin typeface="Calibri" panose="020F0502020204030204" pitchFamily="34" charset="0"/>
                <a:ea typeface="Calibri" panose="020F0502020204030204" pitchFamily="34" charset="0"/>
                <a:cs typeface="Calibri" panose="020F0502020204030204" pitchFamily="34" charset="0"/>
              </a:rPr>
              <a:t> provi all’idea di dover lasciare la tua attuale vita in condizioni d’emergenza, verso l’ignoto e lasciando persone care?</a:t>
            </a:r>
            <a:br>
              <a:rPr lang="it-IT" sz="5000" i="1" dirty="0">
                <a:latin typeface="Calibri" panose="020F0502020204030204" pitchFamily="34" charset="0"/>
                <a:ea typeface="Calibri" panose="020F0502020204030204" pitchFamily="34" charset="0"/>
                <a:cs typeface="Calibri" panose="020F0502020204030204" pitchFamily="34" charset="0"/>
              </a:rPr>
            </a:br>
            <a:br>
              <a:rPr lang="it-IT" sz="5000" i="1" dirty="0">
                <a:latin typeface="Calibri" panose="020F0502020204030204" pitchFamily="34" charset="0"/>
                <a:ea typeface="Calibri" panose="020F0502020204030204" pitchFamily="34" charset="0"/>
                <a:cs typeface="Calibri" panose="020F0502020204030204" pitchFamily="34" charset="0"/>
              </a:rPr>
            </a:br>
            <a:r>
              <a:rPr lang="it-IT" sz="2800" dirty="0">
                <a:latin typeface="Calibri" panose="020F0502020204030204" pitchFamily="34" charset="0"/>
                <a:ea typeface="Calibri" panose="020F0502020204030204" pitchFamily="34" charset="0"/>
                <a:cs typeface="Calibri" panose="020F0502020204030204" pitchFamily="34" charset="0"/>
              </a:rPr>
              <a:t>Quando hai risposto riponi il cartoncino nella </a:t>
            </a:r>
            <a:r>
              <a:rPr lang="it-IT" sz="2800" u="sng" dirty="0">
                <a:latin typeface="Calibri" panose="020F0502020204030204" pitchFamily="34" charset="0"/>
                <a:ea typeface="Calibri" panose="020F0502020204030204" pitchFamily="34" charset="0"/>
                <a:cs typeface="Calibri" panose="020F0502020204030204" pitchFamily="34" charset="0"/>
              </a:rPr>
              <a:t>scatola rossa</a:t>
            </a:r>
            <a:endParaRPr lang="it-IT" sz="5000" u="sng" dirty="0">
              <a:latin typeface="Calibri" panose="020F0502020204030204" pitchFamily="34" charset="0"/>
              <a:ea typeface="Calibri" panose="020F0502020204030204" pitchFamily="34" charset="0"/>
              <a:cs typeface="Calibri" panose="020F0502020204030204" pitchFamily="34" charset="0"/>
            </a:endParaRPr>
          </a:p>
        </p:txBody>
      </p:sp>
      <p:pic>
        <p:nvPicPr>
          <p:cNvPr id="6" name="Immagine 5">
            <a:extLst>
              <a:ext uri="{FF2B5EF4-FFF2-40B4-BE49-F238E27FC236}">
                <a16:creationId xmlns:a16="http://schemas.microsoft.com/office/drawing/2014/main" id="{9BCC52E8-C83D-3D5A-19BA-3A71FFA3F947}"/>
              </a:ext>
            </a:extLst>
          </p:cNvPr>
          <p:cNvPicPr>
            <a:picLocks noChangeAspect="1"/>
          </p:cNvPicPr>
          <p:nvPr/>
        </p:nvPicPr>
        <p:blipFill>
          <a:blip r:embed="rId2"/>
          <a:stretch>
            <a:fillRect/>
          </a:stretch>
        </p:blipFill>
        <p:spPr>
          <a:xfrm rot="20276085">
            <a:off x="-157815" y="497114"/>
            <a:ext cx="2993911" cy="1781377"/>
          </a:xfrm>
          <a:prstGeom prst="rect">
            <a:avLst/>
          </a:prstGeom>
        </p:spPr>
      </p:pic>
    </p:spTree>
    <p:extLst>
      <p:ext uri="{BB962C8B-B14F-4D97-AF65-F5344CB8AC3E}">
        <p14:creationId xmlns:p14="http://schemas.microsoft.com/office/powerpoint/2010/main" val="3826080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FC1D91DA-2E47-A14D-5F64-7BAE53C0D7F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7DF6FC5-486F-91D9-DA65-037AA24C3B0E}"/>
              </a:ext>
            </a:extLst>
          </p:cNvPr>
          <p:cNvSpPr>
            <a:spLocks noGrp="1"/>
          </p:cNvSpPr>
          <p:nvPr>
            <p:ph type="ctrTitle"/>
          </p:nvPr>
        </p:nvSpPr>
        <p:spPr>
          <a:xfrm>
            <a:off x="1514168" y="661296"/>
            <a:ext cx="9665110" cy="5535408"/>
          </a:xfrm>
        </p:spPr>
        <p:txBody>
          <a:bodyPr>
            <a:noAutofit/>
          </a:bodyPr>
          <a:lstStyle/>
          <a:p>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2800" dirty="0">
                <a:latin typeface="Calibri" panose="020F0502020204030204" pitchFamily="34" charset="0"/>
                <a:ea typeface="Calibri" panose="020F0502020204030204" pitchFamily="34" charset="0"/>
                <a:cs typeface="Calibri" panose="020F0502020204030204" pitchFamily="34" charset="0"/>
              </a:rPr>
              <a:t>Scrivi poche parole sul </a:t>
            </a: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b="1" dirty="0">
                <a:latin typeface="Calibri" panose="020F0502020204030204" pitchFamily="34" charset="0"/>
                <a:ea typeface="Calibri" panose="020F0502020204030204" pitchFamily="34" charset="0"/>
                <a:cs typeface="Calibri" panose="020F0502020204030204" pitchFamily="34" charset="0"/>
              </a:rPr>
              <a:t>FOGLIETTO ARANCIONE</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Quali </a:t>
            </a:r>
            <a:r>
              <a:rPr lang="it-IT" sz="5000" b="1" dirty="0">
                <a:latin typeface="Calibri" panose="020F0502020204030204" pitchFamily="34" charset="0"/>
                <a:ea typeface="Calibri" panose="020F0502020204030204" pitchFamily="34" charset="0"/>
                <a:cs typeface="Calibri" panose="020F0502020204030204" pitchFamily="34" charset="0"/>
              </a:rPr>
              <a:t>emozioni</a:t>
            </a:r>
            <a:r>
              <a:rPr lang="it-IT" sz="5000" dirty="0">
                <a:latin typeface="Calibri" panose="020F0502020204030204" pitchFamily="34" charset="0"/>
                <a:ea typeface="Calibri" panose="020F0502020204030204" pitchFamily="34" charset="0"/>
                <a:cs typeface="Calibri" panose="020F0502020204030204" pitchFamily="34" charset="0"/>
              </a:rPr>
              <a:t> provi all’idea di cosa ti </a:t>
            </a:r>
            <a:r>
              <a:rPr lang="it-IT" sz="5000" b="1" dirty="0">
                <a:latin typeface="Calibri" panose="020F0502020204030204" pitchFamily="34" charset="0"/>
                <a:ea typeface="Calibri" panose="020F0502020204030204" pitchFamily="34" charset="0"/>
                <a:cs typeface="Calibri" panose="020F0502020204030204" pitchFamily="34" charset="0"/>
              </a:rPr>
              <a:t>aspetta</a:t>
            </a:r>
            <a:r>
              <a:rPr lang="it-IT" sz="5000" dirty="0">
                <a:latin typeface="Calibri" panose="020F0502020204030204" pitchFamily="34" charset="0"/>
                <a:ea typeface="Calibri" panose="020F0502020204030204" pitchFamily="34" charset="0"/>
                <a:cs typeface="Calibri" panose="020F0502020204030204" pitchFamily="34" charset="0"/>
              </a:rPr>
              <a:t> nel luogo (che non conosci) dove andrai?</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kumimoji="0" lang="it-IT"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Quando hai risposto riponi il cartoncino nella </a:t>
            </a:r>
            <a:r>
              <a:rPr kumimoji="0" lang="it-IT" sz="2800" b="0"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scatola arancione</a:t>
            </a:r>
            <a:endParaRPr lang="it-IT" sz="5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Immagine 3">
            <a:extLst>
              <a:ext uri="{FF2B5EF4-FFF2-40B4-BE49-F238E27FC236}">
                <a16:creationId xmlns:a16="http://schemas.microsoft.com/office/drawing/2014/main" id="{8C89E0F3-1BFA-AE74-1887-8B4514123F48}"/>
              </a:ext>
            </a:extLst>
          </p:cNvPr>
          <p:cNvPicPr>
            <a:picLocks noChangeAspect="1"/>
          </p:cNvPicPr>
          <p:nvPr/>
        </p:nvPicPr>
        <p:blipFill>
          <a:blip r:embed="rId2"/>
          <a:stretch>
            <a:fillRect/>
          </a:stretch>
        </p:blipFill>
        <p:spPr>
          <a:xfrm rot="20276085">
            <a:off x="-157815" y="497114"/>
            <a:ext cx="2993911" cy="1781377"/>
          </a:xfrm>
          <a:prstGeom prst="rect">
            <a:avLst/>
          </a:prstGeom>
        </p:spPr>
      </p:pic>
    </p:spTree>
    <p:extLst>
      <p:ext uri="{BB962C8B-B14F-4D97-AF65-F5344CB8AC3E}">
        <p14:creationId xmlns:p14="http://schemas.microsoft.com/office/powerpoint/2010/main" val="1918548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FE1770DB-13A3-F61E-18A6-D6B9CC73815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699F214-90F8-366C-EE6C-02EBFCD60480}"/>
              </a:ext>
            </a:extLst>
          </p:cNvPr>
          <p:cNvSpPr>
            <a:spLocks noGrp="1"/>
          </p:cNvSpPr>
          <p:nvPr>
            <p:ph type="ctrTitle"/>
          </p:nvPr>
        </p:nvSpPr>
        <p:spPr>
          <a:xfrm>
            <a:off x="1199536" y="464573"/>
            <a:ext cx="10038735" cy="5928853"/>
          </a:xfrm>
        </p:spPr>
        <p:txBody>
          <a:bodyPr>
            <a:noAutofit/>
          </a:bodyPr>
          <a:lstStyle/>
          <a:p>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Parti.</a:t>
            </a:r>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Il </a:t>
            </a:r>
            <a:r>
              <a:rPr lang="it-IT" sz="4800" b="1" dirty="0">
                <a:latin typeface="Calibri" panose="020F0502020204030204" pitchFamily="34" charset="0"/>
                <a:ea typeface="Calibri" panose="020F0502020204030204" pitchFamily="34" charset="0"/>
                <a:cs typeface="Calibri" panose="020F0502020204030204" pitchFamily="34" charset="0"/>
              </a:rPr>
              <a:t>viaggio</a:t>
            </a:r>
            <a:r>
              <a:rPr lang="it-IT" sz="4800" dirty="0">
                <a:latin typeface="Calibri" panose="020F0502020204030204" pitchFamily="34" charset="0"/>
                <a:ea typeface="Calibri" panose="020F0502020204030204" pitchFamily="34" charset="0"/>
                <a:cs typeface="Calibri" panose="020F0502020204030204" pitchFamily="34" charset="0"/>
              </a:rPr>
              <a:t> è </a:t>
            </a:r>
            <a:r>
              <a:rPr lang="it-IT" sz="4800" b="1" dirty="0">
                <a:latin typeface="Calibri" panose="020F0502020204030204" pitchFamily="34" charset="0"/>
                <a:ea typeface="Calibri" panose="020F0502020204030204" pitchFamily="34" charset="0"/>
                <a:cs typeface="Calibri" panose="020F0502020204030204" pitchFamily="34" charset="0"/>
              </a:rPr>
              <a:t>lungo e complesso</a:t>
            </a:r>
            <a:r>
              <a:rPr lang="it-IT" sz="4800" dirty="0">
                <a:latin typeface="Calibri" panose="020F0502020204030204" pitchFamily="34" charset="0"/>
                <a:ea typeface="Calibri" panose="020F0502020204030204" pitchFamily="34" charset="0"/>
                <a:cs typeface="Calibri" panose="020F0502020204030204" pitchFamily="34" charset="0"/>
              </a:rPr>
              <a:t>, ci sono tante difficoltà, alcune che ti mettono a rischio vita, ma tu sopravvivi, non tutte le persone accanto a te hanno la stessa sorte…</a:t>
            </a:r>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Ti richiede molti più soldi di quelli che avevi preventivato e anche </a:t>
            </a:r>
            <a:r>
              <a:rPr lang="it-IT" sz="4800" b="1" dirty="0">
                <a:latin typeface="Calibri" panose="020F0502020204030204" pitchFamily="34" charset="0"/>
                <a:ea typeface="Calibri" panose="020F0502020204030204" pitchFamily="34" charset="0"/>
                <a:cs typeface="Calibri" panose="020F0502020204030204" pitchFamily="34" charset="0"/>
              </a:rPr>
              <a:t>tante energie </a:t>
            </a:r>
            <a:r>
              <a:rPr lang="it-IT" sz="4800" dirty="0">
                <a:latin typeface="Calibri" panose="020F0502020204030204" pitchFamily="34" charset="0"/>
                <a:ea typeface="Calibri" panose="020F0502020204030204" pitchFamily="34" charset="0"/>
                <a:cs typeface="Calibri" panose="020F0502020204030204" pitchFamily="34" charset="0"/>
              </a:rPr>
              <a:t>fisiche e mentali.</a:t>
            </a:r>
          </a:p>
        </p:txBody>
      </p:sp>
    </p:spTree>
    <p:extLst>
      <p:ext uri="{BB962C8B-B14F-4D97-AF65-F5344CB8AC3E}">
        <p14:creationId xmlns:p14="http://schemas.microsoft.com/office/powerpoint/2010/main" val="1244945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5AE8EE43-F4B6-91CB-8CA4-8BA358227B5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238A301-22B0-C758-082A-FD34168474CF}"/>
              </a:ext>
            </a:extLst>
          </p:cNvPr>
          <p:cNvSpPr>
            <a:spLocks noGrp="1"/>
          </p:cNvSpPr>
          <p:nvPr>
            <p:ph type="ctrTitle"/>
          </p:nvPr>
        </p:nvSpPr>
        <p:spPr>
          <a:xfrm>
            <a:off x="353961" y="747252"/>
            <a:ext cx="11248104" cy="5552767"/>
          </a:xfrm>
        </p:spPr>
        <p:txBody>
          <a:bodyPr>
            <a:noAutofit/>
          </a:bodyPr>
          <a:lstStyle/>
          <a:p>
            <a:r>
              <a:rPr lang="it-IT" sz="4800" dirty="0">
                <a:latin typeface="Calibri" panose="020F0502020204030204" pitchFamily="34" charset="0"/>
                <a:ea typeface="Calibri" panose="020F0502020204030204" pitchFamily="34" charset="0"/>
                <a:cs typeface="Calibri" panose="020F0502020204030204" pitchFamily="34" charset="0"/>
              </a:rPr>
              <a:t>Giungi a destinazione </a:t>
            </a:r>
            <a:r>
              <a:rPr lang="it-IT" sz="4800" b="1" dirty="0">
                <a:latin typeface="Calibri" panose="020F0502020204030204" pitchFamily="34" charset="0"/>
                <a:ea typeface="Calibri" panose="020F0502020204030204" pitchFamily="34" charset="0"/>
                <a:cs typeface="Calibri" panose="020F0502020204030204" pitchFamily="34" charset="0"/>
              </a:rPr>
              <a:t>senza soldi </a:t>
            </a:r>
            <a:r>
              <a:rPr lang="it-IT" sz="4800" dirty="0">
                <a:latin typeface="Calibri" panose="020F0502020204030204" pitchFamily="34" charset="0"/>
                <a:ea typeface="Calibri" panose="020F0502020204030204" pitchFamily="34" charset="0"/>
                <a:cs typeface="Calibri" panose="020F0502020204030204" pitchFamily="34" charset="0"/>
              </a:rPr>
              <a:t>(li hai terminati nel viaggio), con tanta </a:t>
            </a:r>
            <a:r>
              <a:rPr lang="it-IT" sz="4800" b="1" dirty="0">
                <a:latin typeface="Calibri" panose="020F0502020204030204" pitchFamily="34" charset="0"/>
                <a:ea typeface="Calibri" panose="020F0502020204030204" pitchFamily="34" charset="0"/>
                <a:cs typeface="Calibri" panose="020F0502020204030204" pitchFamily="34" charset="0"/>
              </a:rPr>
              <a:t>stanchezza</a:t>
            </a:r>
            <a:r>
              <a:rPr lang="it-IT" sz="4800" dirty="0">
                <a:latin typeface="Calibri" panose="020F0502020204030204" pitchFamily="34" charset="0"/>
                <a:ea typeface="Calibri" panose="020F0502020204030204" pitchFamily="34" charset="0"/>
                <a:cs typeface="Calibri" panose="020F0502020204030204" pitchFamily="34" charset="0"/>
              </a:rPr>
              <a:t> e senza conoscere nessuno tranne poche persone incontrate sulla strada, con le quali hai condiviso tante fatiche, ma non le conosci davvero…</a:t>
            </a:r>
            <a:br>
              <a:rPr lang="it-IT" sz="4800" dirty="0">
                <a:latin typeface="Calibri" panose="020F0502020204030204" pitchFamily="34" charset="0"/>
                <a:ea typeface="Calibri" panose="020F0502020204030204" pitchFamily="34" charset="0"/>
                <a:cs typeface="Calibri" panose="020F0502020204030204" pitchFamily="34" charset="0"/>
              </a:rPr>
            </a:br>
            <a:r>
              <a:rPr lang="it-IT" sz="4800" b="1" dirty="0">
                <a:latin typeface="Calibri" panose="020F0502020204030204" pitchFamily="34" charset="0"/>
                <a:ea typeface="Calibri" panose="020F0502020204030204" pitchFamily="34" charset="0"/>
                <a:cs typeface="Calibri" panose="020F0502020204030204" pitchFamily="34" charset="0"/>
              </a:rPr>
              <a:t>Non sai parlare la lingua </a:t>
            </a:r>
            <a:r>
              <a:rPr lang="it-IT" sz="4800" dirty="0">
                <a:latin typeface="Calibri" panose="020F0502020204030204" pitchFamily="34" charset="0"/>
                <a:ea typeface="Calibri" panose="020F0502020204030204" pitchFamily="34" charset="0"/>
                <a:cs typeface="Calibri" panose="020F0502020204030204" pitchFamily="34" charset="0"/>
              </a:rPr>
              <a:t>di questo nuovo Paese…</a:t>
            </a:r>
          </a:p>
        </p:txBody>
      </p:sp>
    </p:spTree>
    <p:extLst>
      <p:ext uri="{BB962C8B-B14F-4D97-AF65-F5344CB8AC3E}">
        <p14:creationId xmlns:p14="http://schemas.microsoft.com/office/powerpoint/2010/main" val="131221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E9CF45AE-A2EC-2E4C-94DA-0C153904674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98939E1-4AC3-EBC6-E1E1-FC508166E773}"/>
              </a:ext>
            </a:extLst>
          </p:cNvPr>
          <p:cNvSpPr>
            <a:spLocks noGrp="1"/>
          </p:cNvSpPr>
          <p:nvPr>
            <p:ph type="ctrTitle"/>
          </p:nvPr>
        </p:nvSpPr>
        <p:spPr>
          <a:xfrm>
            <a:off x="1524000" y="798871"/>
            <a:ext cx="9144000" cy="4451556"/>
          </a:xfrm>
        </p:spPr>
        <p:txBody>
          <a:bodyPr>
            <a:noAutofit/>
          </a:bodyPr>
          <a:lstStyle/>
          <a:p>
            <a:r>
              <a:rPr lang="it-IT" sz="5000" dirty="0">
                <a:latin typeface="Calibri" panose="020F0502020204030204" pitchFamily="34" charset="0"/>
                <a:ea typeface="Calibri" panose="020F0502020204030204" pitchFamily="34" charset="0"/>
                <a:cs typeface="Calibri" panose="020F0502020204030204" pitchFamily="34" charset="0"/>
              </a:rPr>
              <a:t>Non sai dove andare e cosa fare, </a:t>
            </a:r>
            <a:r>
              <a:rPr lang="it-IT" sz="5000" b="1" dirty="0">
                <a:latin typeface="Calibri" panose="020F0502020204030204" pitchFamily="34" charset="0"/>
                <a:ea typeface="Calibri" panose="020F0502020204030204" pitchFamily="34" charset="0"/>
                <a:cs typeface="Calibri" panose="020F0502020204030204" pitchFamily="34" charset="0"/>
              </a:rPr>
              <a:t>non hai soldi</a:t>
            </a:r>
            <a:r>
              <a:rPr lang="it-IT" sz="5000" dirty="0">
                <a:latin typeface="Calibri" panose="020F0502020204030204" pitchFamily="34" charset="0"/>
                <a:ea typeface="Calibri" panose="020F0502020204030204" pitchFamily="34" charset="0"/>
                <a:cs typeface="Calibri" panose="020F0502020204030204" pitchFamily="34" charset="0"/>
              </a:rPr>
              <a:t>, ti senti tanta </a:t>
            </a:r>
            <a:r>
              <a:rPr lang="it-IT" sz="5000" b="1" dirty="0">
                <a:latin typeface="Calibri" panose="020F0502020204030204" pitchFamily="34" charset="0"/>
                <a:ea typeface="Calibri" panose="020F0502020204030204" pitchFamily="34" charset="0"/>
                <a:cs typeface="Calibri" panose="020F0502020204030204" pitchFamily="34" charset="0"/>
              </a:rPr>
              <a:t>stanchezza</a:t>
            </a:r>
            <a:r>
              <a:rPr lang="it-IT" sz="5000" dirty="0">
                <a:latin typeface="Calibri" panose="020F0502020204030204" pitchFamily="34" charset="0"/>
                <a:ea typeface="Calibri" panose="020F0502020204030204" pitchFamily="34" charset="0"/>
                <a:cs typeface="Calibri" panose="020F0502020204030204" pitchFamily="34" charset="0"/>
              </a:rPr>
              <a:t> addosso, hai </a:t>
            </a:r>
            <a:r>
              <a:rPr lang="it-IT" sz="5000" b="1" dirty="0">
                <a:latin typeface="Calibri" panose="020F0502020204030204" pitchFamily="34" charset="0"/>
                <a:ea typeface="Calibri" panose="020F0502020204030204" pitchFamily="34" charset="0"/>
                <a:cs typeface="Calibri" panose="020F0502020204030204" pitchFamily="34" charset="0"/>
              </a:rPr>
              <a:t>fame</a:t>
            </a:r>
            <a:r>
              <a:rPr lang="it-IT" sz="5000" dirty="0">
                <a:latin typeface="Calibri" panose="020F0502020204030204" pitchFamily="34" charset="0"/>
                <a:ea typeface="Calibri" panose="020F0502020204030204" pitchFamily="34" charset="0"/>
                <a:cs typeface="Calibri" panose="020F0502020204030204" pitchFamily="34" charset="0"/>
              </a:rPr>
              <a:t> e ti senti </a:t>
            </a:r>
            <a:r>
              <a:rPr lang="it-IT" sz="5000" b="1" dirty="0">
                <a:latin typeface="Calibri" panose="020F0502020204030204" pitchFamily="34" charset="0"/>
                <a:ea typeface="Calibri" panose="020F0502020204030204" pitchFamily="34" charset="0"/>
                <a:cs typeface="Calibri" panose="020F0502020204030204" pitchFamily="34" charset="0"/>
              </a:rPr>
              <a:t>male</a:t>
            </a:r>
            <a:r>
              <a:rPr lang="it-IT" sz="5000" dirty="0">
                <a:latin typeface="Calibri" panose="020F0502020204030204" pitchFamily="34" charset="0"/>
                <a:ea typeface="Calibri" panose="020F0502020204030204" pitchFamily="34" charset="0"/>
                <a:cs typeface="Calibri" panose="020F0502020204030204" pitchFamily="34" charset="0"/>
              </a:rPr>
              <a:t>… </a:t>
            </a:r>
            <a:br>
              <a:rPr lang="it-IT" sz="5000" dirty="0">
                <a:latin typeface="Calibri" panose="020F0502020204030204" pitchFamily="34" charset="0"/>
                <a:ea typeface="Calibri" panose="020F0502020204030204" pitchFamily="34" charset="0"/>
                <a:cs typeface="Calibri" panose="020F0502020204030204" pitchFamily="34" charset="0"/>
              </a:rPr>
            </a:br>
            <a:endParaRPr lang="it-IT" sz="5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9203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CF8CA4A6-BD2E-E261-4A91-5F3A5F5A78D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1A6C37-6A49-C8DA-88B5-94693BCFEBEA}"/>
              </a:ext>
            </a:extLst>
          </p:cNvPr>
          <p:cNvSpPr>
            <a:spLocks noGrp="1"/>
          </p:cNvSpPr>
          <p:nvPr>
            <p:ph type="ctrTitle"/>
          </p:nvPr>
        </p:nvSpPr>
        <p:spPr>
          <a:xfrm>
            <a:off x="845575" y="642784"/>
            <a:ext cx="10432026" cy="5572432"/>
          </a:xfrm>
        </p:spPr>
        <p:txBody>
          <a:bodyPr>
            <a:noAutofit/>
          </a:bodyPr>
          <a:lstStyle/>
          <a:p>
            <a:r>
              <a:rPr lang="it-IT" sz="4200" dirty="0">
                <a:latin typeface="Calibri" panose="020F0502020204030204" pitchFamily="34" charset="0"/>
                <a:ea typeface="Calibri" panose="020F0502020204030204" pitchFamily="34" charset="0"/>
                <a:cs typeface="Calibri" panose="020F0502020204030204" pitchFamily="34" charset="0"/>
              </a:rPr>
              <a:t>Da alcuni conoscenti scopri che ci sono dei luoghi dove puoi essere ospitato, ti dicono dove andare…</a:t>
            </a:r>
            <a:br>
              <a:rPr lang="it-IT" sz="4200" dirty="0">
                <a:latin typeface="Calibri" panose="020F0502020204030204" pitchFamily="34" charset="0"/>
                <a:ea typeface="Calibri" panose="020F0502020204030204" pitchFamily="34" charset="0"/>
                <a:cs typeface="Calibri" panose="020F0502020204030204" pitchFamily="34" charset="0"/>
              </a:rPr>
            </a:br>
            <a:r>
              <a:rPr lang="it-IT" sz="4200" dirty="0">
                <a:latin typeface="Calibri" panose="020F0502020204030204" pitchFamily="34" charset="0"/>
                <a:ea typeface="Calibri" panose="020F0502020204030204" pitchFamily="34" charset="0"/>
                <a:cs typeface="Calibri" panose="020F0502020204030204" pitchFamily="34" charset="0"/>
              </a:rPr>
              <a:t>Ci vai, non avevi capito che ci fosse una </a:t>
            </a:r>
            <a:r>
              <a:rPr lang="it-IT" sz="4200" b="1" dirty="0">
                <a:latin typeface="Calibri" panose="020F0502020204030204" pitchFamily="34" charset="0"/>
                <a:ea typeface="Calibri" panose="020F0502020204030204" pitchFamily="34" charset="0"/>
                <a:cs typeface="Calibri" panose="020F0502020204030204" pitchFamily="34" charset="0"/>
              </a:rPr>
              <a:t>lista d’attesa </a:t>
            </a:r>
            <a:r>
              <a:rPr lang="it-IT" sz="4200" dirty="0">
                <a:latin typeface="Calibri" panose="020F0502020204030204" pitchFamily="34" charset="0"/>
                <a:ea typeface="Calibri" panose="020F0502020204030204" pitchFamily="34" charset="0"/>
                <a:cs typeface="Calibri" panose="020F0502020204030204" pitchFamily="34" charset="0"/>
              </a:rPr>
              <a:t>per l’ingresso… </a:t>
            </a:r>
            <a:br>
              <a:rPr lang="it-IT" sz="4200" dirty="0">
                <a:latin typeface="Calibri" panose="020F0502020204030204" pitchFamily="34" charset="0"/>
                <a:ea typeface="Calibri" panose="020F0502020204030204" pitchFamily="34" charset="0"/>
                <a:cs typeface="Calibri" panose="020F0502020204030204" pitchFamily="34" charset="0"/>
              </a:rPr>
            </a:br>
            <a:br>
              <a:rPr lang="it-IT" sz="4200" dirty="0">
                <a:latin typeface="Calibri" panose="020F0502020204030204" pitchFamily="34" charset="0"/>
                <a:ea typeface="Calibri" panose="020F0502020204030204" pitchFamily="34" charset="0"/>
                <a:cs typeface="Calibri" panose="020F0502020204030204" pitchFamily="34" charset="0"/>
              </a:rPr>
            </a:br>
            <a:r>
              <a:rPr lang="it-IT" sz="4200" dirty="0">
                <a:latin typeface="Calibri" panose="020F0502020204030204" pitchFamily="34" charset="0"/>
                <a:ea typeface="Calibri" panose="020F0502020204030204" pitchFamily="34" charset="0"/>
                <a:cs typeface="Calibri" panose="020F0502020204030204" pitchFamily="34" charset="0"/>
              </a:rPr>
              <a:t>Ti dicono dove andare a mangiare provvisoriamente, mentre attendi alcuni giorni l’ingresso… </a:t>
            </a:r>
            <a:r>
              <a:rPr lang="it-IT" sz="4200" b="1" dirty="0">
                <a:latin typeface="Calibri" panose="020F0502020204030204" pitchFamily="34" charset="0"/>
                <a:ea typeface="Calibri" panose="020F0502020204030204" pitchFamily="34" charset="0"/>
                <a:cs typeface="Calibri" panose="020F0502020204030204" pitchFamily="34" charset="0"/>
              </a:rPr>
              <a:t>dormi per strada</a:t>
            </a:r>
            <a:r>
              <a:rPr lang="it-IT" sz="4200" dirty="0">
                <a:latin typeface="Calibri" panose="020F0502020204030204" pitchFamily="34" charset="0"/>
                <a:ea typeface="Calibri" panose="020F0502020204030204" pitchFamily="34" charset="0"/>
                <a:cs typeface="Calibri" panose="020F0502020204030204" pitchFamily="34" charset="0"/>
              </a:rPr>
              <a:t>, per fortuna è estate!</a:t>
            </a:r>
          </a:p>
        </p:txBody>
      </p:sp>
    </p:spTree>
    <p:extLst>
      <p:ext uri="{BB962C8B-B14F-4D97-AF65-F5344CB8AC3E}">
        <p14:creationId xmlns:p14="http://schemas.microsoft.com/office/powerpoint/2010/main" val="131220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913D3740-C7DB-9DF6-3C30-9F36B7A254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815DD75-DF9C-67D8-16F1-03C378B6F86B}"/>
              </a:ext>
            </a:extLst>
          </p:cNvPr>
          <p:cNvSpPr>
            <a:spLocks noGrp="1"/>
          </p:cNvSpPr>
          <p:nvPr>
            <p:ph type="ctrTitle"/>
          </p:nvPr>
        </p:nvSpPr>
        <p:spPr>
          <a:xfrm>
            <a:off x="629265" y="405581"/>
            <a:ext cx="10933470" cy="6046838"/>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Finalmente arriva il giorno dell’ingresso nel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b="1" dirty="0">
                <a:latin typeface="Calibri" panose="020F0502020204030204" pitchFamily="34" charset="0"/>
                <a:ea typeface="Calibri" panose="020F0502020204030204" pitchFamily="34" charset="0"/>
                <a:cs typeface="Calibri" panose="020F0502020204030204" pitchFamily="34" charset="0"/>
              </a:rPr>
              <a:t>centro d’accoglienza</a:t>
            </a:r>
            <a:r>
              <a:rPr lang="it-IT" sz="4000" dirty="0">
                <a:latin typeface="Calibri" panose="020F0502020204030204" pitchFamily="34" charset="0"/>
                <a:ea typeface="Calibri" panose="020F0502020204030204" pitchFamily="34" charset="0"/>
                <a:cs typeface="Calibri" panose="020F0502020204030204" pitchFamily="34" charset="0"/>
              </a:rPr>
              <a:t>!</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Ti accolgono delle </a:t>
            </a:r>
            <a:r>
              <a:rPr lang="it-IT" sz="4000" b="1" dirty="0">
                <a:latin typeface="Calibri" panose="020F0502020204030204" pitchFamily="34" charset="0"/>
                <a:ea typeface="Calibri" panose="020F0502020204030204" pitchFamily="34" charset="0"/>
                <a:cs typeface="Calibri" panose="020F0502020204030204" pitchFamily="34" charset="0"/>
              </a:rPr>
              <a:t>persone professioniste </a:t>
            </a:r>
            <a:r>
              <a:rPr lang="it-IT" sz="4000" dirty="0">
                <a:latin typeface="Calibri" panose="020F0502020204030204" pitchFamily="34" charset="0"/>
                <a:ea typeface="Calibri" panose="020F0502020204030204" pitchFamily="34" charset="0"/>
                <a:cs typeface="Calibri" panose="020F0502020204030204" pitchFamily="34" charset="0"/>
              </a:rPr>
              <a:t>che ti leggono tante regole della casa e ti consegnano un regolamento che è tradotto nella tua lingua.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Da quanto comprendi avrai una stanza che condividerai con un’altra persona.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Non capisci proprio tutte le regole, ma la </a:t>
            </a:r>
            <a:r>
              <a:rPr lang="it-IT" sz="4000" b="1" dirty="0">
                <a:latin typeface="Calibri" panose="020F0502020204030204" pitchFamily="34" charset="0"/>
                <a:ea typeface="Calibri" panose="020F0502020204030204" pitchFamily="34" charset="0"/>
                <a:cs typeface="Calibri" panose="020F0502020204030204" pitchFamily="34" charset="0"/>
              </a:rPr>
              <a:t>stanchezza</a:t>
            </a:r>
            <a:r>
              <a:rPr lang="it-IT" sz="4000" dirty="0">
                <a:latin typeface="Calibri" panose="020F0502020204030204" pitchFamily="34" charset="0"/>
                <a:ea typeface="Calibri" panose="020F0502020204030204" pitchFamily="34" charset="0"/>
                <a:cs typeface="Calibri" panose="020F0502020204030204" pitchFamily="34" charset="0"/>
              </a:rPr>
              <a:t> ti impedisce di fare domande, vuoi riposarti. </a:t>
            </a:r>
          </a:p>
        </p:txBody>
      </p:sp>
    </p:spTree>
    <p:extLst>
      <p:ext uri="{BB962C8B-B14F-4D97-AF65-F5344CB8AC3E}">
        <p14:creationId xmlns:p14="http://schemas.microsoft.com/office/powerpoint/2010/main" val="1071136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C867C46D-0BCB-8F92-F35E-5410A831807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B31AF5-32E2-94E3-F7A1-A549D7ED7DBC}"/>
              </a:ext>
            </a:extLst>
          </p:cNvPr>
          <p:cNvSpPr>
            <a:spLocks noGrp="1"/>
          </p:cNvSpPr>
          <p:nvPr>
            <p:ph type="ctrTitle"/>
          </p:nvPr>
        </p:nvSpPr>
        <p:spPr>
          <a:xfrm>
            <a:off x="1086464" y="157316"/>
            <a:ext cx="10191136" cy="5442155"/>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Durante i giorni successivi inizi a conoscere la casa dove sarai ospite per qualche tempo…</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Ti manca tanto la tua famiglia e il tuo Paese anche se sai che non potevi restare là…</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Finalmente ti </a:t>
            </a:r>
            <a:r>
              <a:rPr lang="it-IT" sz="4000" b="1" dirty="0">
                <a:latin typeface="Calibri" panose="020F0502020204030204" pitchFamily="34" charset="0"/>
                <a:ea typeface="Calibri" panose="020F0502020204030204" pitchFamily="34" charset="0"/>
                <a:cs typeface="Calibri" panose="020F0502020204030204" pitchFamily="34" charset="0"/>
              </a:rPr>
              <a:t>riposi</a:t>
            </a:r>
            <a:r>
              <a:rPr lang="it-IT" sz="4000" dirty="0">
                <a:latin typeface="Calibri" panose="020F0502020204030204" pitchFamily="34" charset="0"/>
                <a:ea typeface="Calibri" panose="020F0502020204030204" pitchFamily="34" charset="0"/>
                <a:cs typeface="Calibri" panose="020F0502020204030204" pitchFamily="34" charset="0"/>
              </a:rPr>
              <a:t> un po’… la </a:t>
            </a:r>
            <a:r>
              <a:rPr lang="it-IT" sz="4000" b="1" dirty="0">
                <a:latin typeface="Calibri" panose="020F0502020204030204" pitchFamily="34" charset="0"/>
                <a:ea typeface="Calibri" panose="020F0502020204030204" pitchFamily="34" charset="0"/>
                <a:cs typeface="Calibri" panose="020F0502020204030204" pitchFamily="34" charset="0"/>
              </a:rPr>
              <a:t>stanchezza fisica e mentale accumulata </a:t>
            </a:r>
            <a:r>
              <a:rPr lang="it-IT" sz="4000" dirty="0">
                <a:latin typeface="Calibri" panose="020F0502020204030204" pitchFamily="34" charset="0"/>
                <a:ea typeface="Calibri" panose="020F0502020204030204" pitchFamily="34" charset="0"/>
                <a:cs typeface="Calibri" panose="020F0502020204030204" pitchFamily="34" charset="0"/>
              </a:rPr>
              <a:t>è davvero tanta, non avresti mai immaginato di sentirti così!</a:t>
            </a:r>
          </a:p>
        </p:txBody>
      </p:sp>
    </p:spTree>
    <p:extLst>
      <p:ext uri="{BB962C8B-B14F-4D97-AF65-F5344CB8AC3E}">
        <p14:creationId xmlns:p14="http://schemas.microsoft.com/office/powerpoint/2010/main" val="3876019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9FFA99D4-232A-0528-186C-7789CB3A420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38CFDCE-1CC2-E293-F117-E3D8A8A47F93}"/>
              </a:ext>
            </a:extLst>
          </p:cNvPr>
          <p:cNvSpPr>
            <a:spLocks noGrp="1"/>
          </p:cNvSpPr>
          <p:nvPr>
            <p:ph type="ctrTitle"/>
          </p:nvPr>
        </p:nvSpPr>
        <p:spPr>
          <a:xfrm>
            <a:off x="439481" y="870155"/>
            <a:ext cx="6218904" cy="5117690"/>
          </a:xfrm>
        </p:spPr>
        <p:txBody>
          <a:bodyPr>
            <a:noAutofit/>
          </a:bodyPr>
          <a:lstStyle/>
          <a:p>
            <a:r>
              <a:rPr lang="it-IT" sz="2800" dirty="0">
                <a:latin typeface="Calibri" panose="020F0502020204030204" pitchFamily="34" charset="0"/>
                <a:ea typeface="Calibri" panose="020F0502020204030204" pitchFamily="34" charset="0"/>
                <a:cs typeface="Calibri" panose="020F0502020204030204" pitchFamily="34" charset="0"/>
              </a:rPr>
              <a:t>Prendi il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b="1" dirty="0">
                <a:latin typeface="Calibri" panose="020F0502020204030204" pitchFamily="34" charset="0"/>
                <a:ea typeface="Calibri" panose="020F0502020204030204" pitchFamily="34" charset="0"/>
                <a:cs typeface="Calibri" panose="020F0502020204030204" pitchFamily="34" charset="0"/>
              </a:rPr>
              <a:t>FOGLIETTO GIALLO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Ora che sei in accoglienza…</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Di cosa senti che avresti </a:t>
            </a:r>
            <a:r>
              <a:rPr lang="it-IT" sz="4000" b="1" dirty="0">
                <a:latin typeface="Calibri" panose="020F0502020204030204" pitchFamily="34" charset="0"/>
                <a:ea typeface="Calibri" panose="020F0502020204030204" pitchFamily="34" charset="0"/>
                <a:cs typeface="Calibri" panose="020F0502020204030204" pitchFamily="34" charset="0"/>
              </a:rPr>
              <a:t>bisogno per sentirti bene</a:t>
            </a:r>
            <a:r>
              <a:rPr lang="it-IT" sz="4000" dirty="0">
                <a:latin typeface="Calibri" panose="020F0502020204030204" pitchFamily="34" charset="0"/>
                <a:ea typeface="Calibri" panose="020F0502020204030204" pitchFamily="34" charset="0"/>
                <a:cs typeface="Calibri" panose="020F0502020204030204" pitchFamily="34" charset="0"/>
              </a:rPr>
              <a:t>?</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Pensa e scrivi tutti i bisogni e desideri che ti vengono in mente.</a:t>
            </a:r>
          </a:p>
        </p:txBody>
      </p:sp>
      <p:pic>
        <p:nvPicPr>
          <p:cNvPr id="4" name="Immagine 3">
            <a:extLst>
              <a:ext uri="{FF2B5EF4-FFF2-40B4-BE49-F238E27FC236}">
                <a16:creationId xmlns:a16="http://schemas.microsoft.com/office/drawing/2014/main" id="{B4DF3D9F-E02B-3E0C-AB07-E51D22A6C45C}"/>
              </a:ext>
            </a:extLst>
          </p:cNvPr>
          <p:cNvPicPr>
            <a:picLocks noChangeAspect="1"/>
          </p:cNvPicPr>
          <p:nvPr/>
        </p:nvPicPr>
        <p:blipFill>
          <a:blip r:embed="rId2"/>
          <a:stretch>
            <a:fillRect/>
          </a:stretch>
        </p:blipFill>
        <p:spPr>
          <a:xfrm>
            <a:off x="6838335" y="1000125"/>
            <a:ext cx="5004620" cy="4857750"/>
          </a:xfrm>
          <a:prstGeom prst="rect">
            <a:avLst/>
          </a:prstGeom>
          <a:ln w="57150">
            <a:solidFill>
              <a:srgbClr val="FFC000"/>
            </a:solidFill>
          </a:ln>
        </p:spPr>
      </p:pic>
      <p:pic>
        <p:nvPicPr>
          <p:cNvPr id="6" name="Immagine 5">
            <a:extLst>
              <a:ext uri="{FF2B5EF4-FFF2-40B4-BE49-F238E27FC236}">
                <a16:creationId xmlns:a16="http://schemas.microsoft.com/office/drawing/2014/main" id="{5CE0A427-0AB1-8DB8-A93F-DBB044CFBE2D}"/>
              </a:ext>
            </a:extLst>
          </p:cNvPr>
          <p:cNvPicPr>
            <a:picLocks noChangeAspect="1"/>
          </p:cNvPicPr>
          <p:nvPr/>
        </p:nvPicPr>
        <p:blipFill>
          <a:blip r:embed="rId3"/>
          <a:stretch>
            <a:fillRect/>
          </a:stretch>
        </p:blipFill>
        <p:spPr>
          <a:xfrm rot="20276085">
            <a:off x="-242948" y="251242"/>
            <a:ext cx="2517254" cy="1497766"/>
          </a:xfrm>
          <a:prstGeom prst="rect">
            <a:avLst/>
          </a:prstGeom>
        </p:spPr>
      </p:pic>
    </p:spTree>
    <p:extLst>
      <p:ext uri="{BB962C8B-B14F-4D97-AF65-F5344CB8AC3E}">
        <p14:creationId xmlns:p14="http://schemas.microsoft.com/office/powerpoint/2010/main" val="2645896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4C6E17FE-4FF4-4A5C-EF2E-8F3C93620D9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5518D5B-3B25-0759-C56B-ACF9BC1A784D}"/>
              </a:ext>
            </a:extLst>
          </p:cNvPr>
          <p:cNvSpPr>
            <a:spLocks noGrp="1"/>
          </p:cNvSpPr>
          <p:nvPr>
            <p:ph type="ctrTitle"/>
          </p:nvPr>
        </p:nvSpPr>
        <p:spPr>
          <a:xfrm>
            <a:off x="663676" y="828368"/>
            <a:ext cx="8490155" cy="5201264"/>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È stato facile rispondere alla domanda precedente?</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Non ti chiediamo di scriverlo…</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Sappi che per </a:t>
            </a:r>
            <a:r>
              <a:rPr lang="it-IT" sz="4000" b="1" dirty="0">
                <a:latin typeface="Calibri" panose="020F0502020204030204" pitchFamily="34" charset="0"/>
                <a:ea typeface="Calibri" panose="020F0502020204030204" pitchFamily="34" charset="0"/>
                <a:cs typeface="Calibri" panose="020F0502020204030204" pitchFamily="34" charset="0"/>
              </a:rPr>
              <a:t>persone traumatizzate</a:t>
            </a:r>
            <a:r>
              <a:rPr lang="it-IT" sz="4000" dirty="0">
                <a:latin typeface="Calibri" panose="020F0502020204030204" pitchFamily="34" charset="0"/>
                <a:ea typeface="Calibri" panose="020F0502020204030204" pitchFamily="34" charset="0"/>
                <a:cs typeface="Calibri" panose="020F0502020204030204" pitchFamily="34" charset="0"/>
              </a:rPr>
              <a:t> individuare e pensare ai propri desideri è molto difficile…</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Ma il desiderio è ciò che ci rende vivi!</a:t>
            </a:r>
          </a:p>
        </p:txBody>
      </p:sp>
      <p:pic>
        <p:nvPicPr>
          <p:cNvPr id="4" name="Immagine 3">
            <a:extLst>
              <a:ext uri="{FF2B5EF4-FFF2-40B4-BE49-F238E27FC236}">
                <a16:creationId xmlns:a16="http://schemas.microsoft.com/office/drawing/2014/main" id="{3B4E358C-FCFB-1612-3496-6878E7564A82}"/>
              </a:ext>
            </a:extLst>
          </p:cNvPr>
          <p:cNvPicPr>
            <a:picLocks noChangeAspect="1"/>
          </p:cNvPicPr>
          <p:nvPr/>
        </p:nvPicPr>
        <p:blipFill>
          <a:blip r:embed="rId2"/>
          <a:stretch>
            <a:fillRect/>
          </a:stretch>
        </p:blipFill>
        <p:spPr>
          <a:xfrm>
            <a:off x="9135225" y="321700"/>
            <a:ext cx="2717561" cy="2637810"/>
          </a:xfrm>
          <a:prstGeom prst="rect">
            <a:avLst/>
          </a:prstGeom>
          <a:ln w="57150">
            <a:solidFill>
              <a:srgbClr val="FFC000"/>
            </a:solidFill>
          </a:ln>
        </p:spPr>
      </p:pic>
    </p:spTree>
    <p:extLst>
      <p:ext uri="{BB962C8B-B14F-4D97-AF65-F5344CB8AC3E}">
        <p14:creationId xmlns:p14="http://schemas.microsoft.com/office/powerpoint/2010/main" val="3990947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D9E0F5C8-579E-BA8D-E652-54E0997BBBF3}"/>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6A8360BD-3B56-87A2-8994-21631B43692C}"/>
              </a:ext>
            </a:extLst>
          </p:cNvPr>
          <p:cNvSpPr>
            <a:spLocks noGrp="1"/>
          </p:cNvSpPr>
          <p:nvPr>
            <p:ph type="ctrTitle"/>
          </p:nvPr>
        </p:nvSpPr>
        <p:spPr>
          <a:xfrm>
            <a:off x="1000431" y="707922"/>
            <a:ext cx="10621297" cy="5442155"/>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Sei in questo nuovo Paese da un po’ di tempo, ma le</a:t>
            </a:r>
            <a:r>
              <a:rPr lang="it-IT" sz="4000" b="1" dirty="0">
                <a:latin typeface="Calibri" panose="020F0502020204030204" pitchFamily="34" charset="0"/>
                <a:ea typeface="Calibri" panose="020F0502020204030204" pitchFamily="34" charset="0"/>
                <a:cs typeface="Calibri" panose="020F0502020204030204" pitchFamily="34" charset="0"/>
              </a:rPr>
              <a:t> complessità non sono terminate</a:t>
            </a:r>
            <a:r>
              <a:rPr lang="it-IT" sz="4000" dirty="0">
                <a:latin typeface="Calibri" panose="020F0502020204030204" pitchFamily="34" charset="0"/>
                <a:ea typeface="Calibri" panose="020F0502020204030204" pitchFamily="34" charset="0"/>
                <a:cs typeface="Calibri" panose="020F0502020204030204" pitchFamily="34" charset="0"/>
              </a:rPr>
              <a:t>, solo modificate.</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Questo aspetto non lo avevi considerato.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Immaginavi che con l’arrivo a destinazione tutto sarebbe stato in discesa, ma non è così…</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I documenti sono molto difficili da ottenere sia per la burocrazia, ma anche per il trattamento durante gli accessi in Questura…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Spesso è mortificante…</a:t>
            </a:r>
          </a:p>
        </p:txBody>
      </p:sp>
    </p:spTree>
    <p:extLst>
      <p:ext uri="{BB962C8B-B14F-4D97-AF65-F5344CB8AC3E}">
        <p14:creationId xmlns:p14="http://schemas.microsoft.com/office/powerpoint/2010/main" val="4194933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B01B2EDE-2FA0-B8C4-E89A-D4E387E0929D}"/>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2299C86F-ED97-3648-3BC6-16FB85172F5C}"/>
              </a:ext>
            </a:extLst>
          </p:cNvPr>
          <p:cNvSpPr>
            <a:spLocks noGrp="1"/>
          </p:cNvSpPr>
          <p:nvPr>
            <p:ph type="ctrTitle"/>
          </p:nvPr>
        </p:nvSpPr>
        <p:spPr>
          <a:xfrm>
            <a:off x="496529" y="786580"/>
            <a:ext cx="11198942" cy="5442155"/>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Imparare la nuova lingua è davvero complesso, soprattutto perché ci sono sempre </a:t>
            </a:r>
            <a:r>
              <a:rPr lang="it-IT" sz="4000" b="1" dirty="0">
                <a:latin typeface="Calibri" panose="020F0502020204030204" pitchFamily="34" charset="0"/>
                <a:ea typeface="Calibri" panose="020F0502020204030204" pitchFamily="34" charset="0"/>
                <a:cs typeface="Calibri" panose="020F0502020204030204" pitchFamily="34" charset="0"/>
              </a:rPr>
              <a:t>tanti pensieri </a:t>
            </a:r>
            <a:r>
              <a:rPr lang="it-IT" sz="4000" dirty="0">
                <a:latin typeface="Calibri" panose="020F0502020204030204" pitchFamily="34" charset="0"/>
                <a:ea typeface="Calibri" panose="020F0502020204030204" pitchFamily="34" charset="0"/>
                <a:cs typeface="Calibri" panose="020F0502020204030204" pitchFamily="34" charset="0"/>
              </a:rPr>
              <a:t>che ti affollano la mente…</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e poi… hai bisogno di lavorare, ma non trovi lavoro!</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L’assenza dalla conoscenza della lingua ti frena e soprattutto ti chiedono competenze molto diverse da quelle che tu hai… eppure te la sei sempre cavata nella vita e nel tuo Paese sentivi di avere un valore come persona… qui a volte ti viene da dubitarne… rispetto a questi standard.</a:t>
            </a:r>
          </a:p>
        </p:txBody>
      </p:sp>
    </p:spTree>
    <p:extLst>
      <p:ext uri="{BB962C8B-B14F-4D97-AF65-F5344CB8AC3E}">
        <p14:creationId xmlns:p14="http://schemas.microsoft.com/office/powerpoint/2010/main" val="453876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04E57123-0256-3503-D520-9D3BE9C78A2B}"/>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84C97084-13DF-5A28-56E4-1E244EA2AA1B}"/>
              </a:ext>
            </a:extLst>
          </p:cNvPr>
          <p:cNvSpPr>
            <a:spLocks noGrp="1"/>
          </p:cNvSpPr>
          <p:nvPr>
            <p:ph type="ctrTitle"/>
          </p:nvPr>
        </p:nvSpPr>
        <p:spPr>
          <a:xfrm>
            <a:off x="0" y="254644"/>
            <a:ext cx="12107119" cy="6208688"/>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Altra cosa che non avevi considerato: quanto è difficile avere un </a:t>
            </a:r>
            <a:r>
              <a:rPr lang="it-IT" sz="4000" b="1" dirty="0">
                <a:latin typeface="Calibri" panose="020F0502020204030204" pitchFamily="34" charset="0"/>
                <a:ea typeface="Calibri" panose="020F0502020204030204" pitchFamily="34" charset="0"/>
                <a:cs typeface="Calibri" panose="020F0502020204030204" pitchFamily="34" charset="0"/>
              </a:rPr>
              <a:t>colore della pelle diverso </a:t>
            </a:r>
            <a:r>
              <a:rPr lang="it-IT" sz="4000" dirty="0">
                <a:latin typeface="Calibri" panose="020F0502020204030204" pitchFamily="34" charset="0"/>
                <a:ea typeface="Calibri" panose="020F0502020204030204" pitchFamily="34" charset="0"/>
                <a:cs typeface="Calibri" panose="020F0502020204030204" pitchFamily="34" charset="0"/>
              </a:rPr>
              <a:t>dalla maggior parte delle persone che vivono nel Paese dove abiti!</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Perché è così importante? E perché in molte situazioni ti capita di subire insulti e discriminazioni per questo?</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Capita così tante volte e quasi ti ci stai abituando, ma non bisogna abituarsi!</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i="1" dirty="0">
                <a:latin typeface="Calibri" panose="020F0502020204030204" pitchFamily="34" charset="0"/>
                <a:ea typeface="Calibri" panose="020F0502020204030204" pitchFamily="34" charset="0"/>
                <a:cs typeface="Calibri" panose="020F0502020204030204" pitchFamily="34" charset="0"/>
              </a:rPr>
              <a:t>Nota tecnica: si chiamano «micro aggressioni», sono sottili, quasi invisibili, ma hanno un impatto negativo fortissimo sulla persona!</a:t>
            </a:r>
          </a:p>
        </p:txBody>
      </p:sp>
    </p:spTree>
    <p:extLst>
      <p:ext uri="{BB962C8B-B14F-4D97-AF65-F5344CB8AC3E}">
        <p14:creationId xmlns:p14="http://schemas.microsoft.com/office/powerpoint/2010/main" val="3707736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C5FDEA11-3791-9B27-55C8-A69C854460D8}"/>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7E22937E-353F-2940-EAD5-ED5BA7F00EB6}"/>
              </a:ext>
            </a:extLst>
          </p:cNvPr>
          <p:cNvSpPr>
            <a:spLocks noGrp="1"/>
          </p:cNvSpPr>
          <p:nvPr>
            <p:ph type="ctrTitle"/>
          </p:nvPr>
        </p:nvSpPr>
        <p:spPr>
          <a:xfrm>
            <a:off x="496529" y="786580"/>
            <a:ext cx="11198942" cy="4050891"/>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Da quando sei in accoglienza, riesci a contattare la tua famiglia…</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Non stanno bene, ti chiedono quando possono raggiungerti e di mandargli soldi…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ma tu </a:t>
            </a:r>
            <a:r>
              <a:rPr lang="it-IT" sz="4000" b="1" dirty="0">
                <a:latin typeface="Calibri" panose="020F0502020204030204" pitchFamily="34" charset="0"/>
                <a:ea typeface="Calibri" panose="020F0502020204030204" pitchFamily="34" charset="0"/>
                <a:cs typeface="Calibri" panose="020F0502020204030204" pitchFamily="34" charset="0"/>
              </a:rPr>
              <a:t>non sai come aiutarli</a:t>
            </a:r>
            <a:r>
              <a:rPr lang="it-IT" sz="4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55263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82702FD7-4FAA-1975-EB93-F981341CFA65}"/>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BE6C7832-70B8-3D95-DDE5-0FBF62F43BF1}"/>
              </a:ext>
            </a:extLst>
          </p:cNvPr>
          <p:cNvSpPr>
            <a:spLocks noGrp="1"/>
          </p:cNvSpPr>
          <p:nvPr>
            <p:ph type="ctrTitle"/>
          </p:nvPr>
        </p:nvSpPr>
        <p:spPr>
          <a:xfrm>
            <a:off x="796412" y="570272"/>
            <a:ext cx="10761407" cy="5476568"/>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La storia continua …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per ogni persona in un modo diverso …</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Ci fermiamo qui nel nostro viaggio…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Tutte le persone sono piene di </a:t>
            </a:r>
            <a:r>
              <a:rPr lang="it-IT" sz="4000" b="1" dirty="0">
                <a:latin typeface="Calibri" panose="020F0502020204030204" pitchFamily="34" charset="0"/>
                <a:ea typeface="Calibri" panose="020F0502020204030204" pitchFamily="34" charset="0"/>
                <a:cs typeface="Calibri" panose="020F0502020204030204" pitchFamily="34" charset="0"/>
              </a:rPr>
              <a:t>risorse e competenze </a:t>
            </a:r>
            <a:r>
              <a:rPr lang="it-IT" sz="4000" dirty="0">
                <a:latin typeface="Calibri" panose="020F0502020204030204" pitchFamily="34" charset="0"/>
                <a:ea typeface="Calibri" panose="020F0502020204030204" pitchFamily="34" charset="0"/>
                <a:cs typeface="Calibri" panose="020F0502020204030204" pitchFamily="34" charset="0"/>
              </a:rPr>
              <a:t>che sicuramente metteranno in campo, ma forse, su temi così ampi e complessi, sarebbe importante una riflessione che va </a:t>
            </a:r>
            <a:r>
              <a:rPr lang="it-IT" sz="4000" b="1" dirty="0">
                <a:latin typeface="Calibri" panose="020F0502020204030204" pitchFamily="34" charset="0"/>
                <a:ea typeface="Calibri" panose="020F0502020204030204" pitchFamily="34" charset="0"/>
                <a:cs typeface="Calibri" panose="020F0502020204030204" pitchFamily="34" charset="0"/>
              </a:rPr>
              <a:t>oltre l’individuale</a:t>
            </a:r>
            <a:r>
              <a:rPr lang="it-IT" sz="4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76233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D6A2E0A9-6D0F-CFE4-F603-50206A8D5CC5}"/>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C0A16AAA-BC12-6D37-BD5B-BFFF7989591D}"/>
              </a:ext>
            </a:extLst>
          </p:cNvPr>
          <p:cNvSpPr>
            <a:spLocks noGrp="1"/>
          </p:cNvSpPr>
          <p:nvPr>
            <p:ph type="ctrTitle"/>
          </p:nvPr>
        </p:nvSpPr>
        <p:spPr>
          <a:xfrm>
            <a:off x="1383378" y="575187"/>
            <a:ext cx="10189190" cy="3947158"/>
          </a:xfrm>
        </p:spPr>
        <p:txBody>
          <a:bodyPr>
            <a:noAutofit/>
          </a:bodyPr>
          <a:lstStyle/>
          <a:p>
            <a:r>
              <a:rPr lang="it-IT" sz="2800" dirty="0">
                <a:latin typeface="Calibri" panose="020F0502020204030204" pitchFamily="34" charset="0"/>
                <a:ea typeface="Calibri" panose="020F0502020204030204" pitchFamily="34" charset="0"/>
                <a:cs typeface="Calibri" panose="020F0502020204030204" pitchFamily="34" charset="0"/>
              </a:rPr>
              <a:t>Prendi il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b="1" dirty="0">
                <a:latin typeface="Calibri" panose="020F0502020204030204" pitchFamily="34" charset="0"/>
                <a:ea typeface="Calibri" panose="020F0502020204030204" pitchFamily="34" charset="0"/>
                <a:cs typeface="Calibri" panose="020F0502020204030204" pitchFamily="34" charset="0"/>
              </a:rPr>
              <a:t>FOGLIETTO AZZURRO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Cosa credi che potresti fare tu o anche noi per supportare le persone migranti?</a:t>
            </a:r>
          </a:p>
        </p:txBody>
      </p:sp>
      <p:pic>
        <p:nvPicPr>
          <p:cNvPr id="8" name="Immagine 7">
            <a:extLst>
              <a:ext uri="{FF2B5EF4-FFF2-40B4-BE49-F238E27FC236}">
                <a16:creationId xmlns:a16="http://schemas.microsoft.com/office/drawing/2014/main" id="{85098C20-70D1-D7AD-425A-05B804B183A8}"/>
              </a:ext>
            </a:extLst>
          </p:cNvPr>
          <p:cNvPicPr>
            <a:picLocks noChangeAspect="1"/>
          </p:cNvPicPr>
          <p:nvPr/>
        </p:nvPicPr>
        <p:blipFill>
          <a:blip r:embed="rId3"/>
          <a:stretch>
            <a:fillRect/>
          </a:stretch>
        </p:blipFill>
        <p:spPr>
          <a:xfrm>
            <a:off x="-298763" y="-5411"/>
            <a:ext cx="2901948" cy="2341067"/>
          </a:xfrm>
          <a:prstGeom prst="rect">
            <a:avLst/>
          </a:prstGeom>
        </p:spPr>
      </p:pic>
    </p:spTree>
    <p:extLst>
      <p:ext uri="{BB962C8B-B14F-4D97-AF65-F5344CB8AC3E}">
        <p14:creationId xmlns:p14="http://schemas.microsoft.com/office/powerpoint/2010/main" val="956933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a:extLst>
            <a:ext uri="{FF2B5EF4-FFF2-40B4-BE49-F238E27FC236}">
              <a16:creationId xmlns:a16="http://schemas.microsoft.com/office/drawing/2014/main" id="{0643B4E2-C195-332C-3E15-AF1D30396C99}"/>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F61C8C1D-AF93-D9EC-6D75-A52A186D7C80}"/>
              </a:ext>
            </a:extLst>
          </p:cNvPr>
          <p:cNvSpPr>
            <a:spLocks noGrp="1"/>
          </p:cNvSpPr>
          <p:nvPr>
            <p:ph type="ctrTitle"/>
          </p:nvPr>
        </p:nvSpPr>
        <p:spPr>
          <a:xfrm>
            <a:off x="778774" y="1024932"/>
            <a:ext cx="10634451" cy="5044859"/>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È stato complesso questo tuo viaggio immaginario?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Se lo desideri nell’altra stanza puoi trovare un </a:t>
            </a:r>
            <a:r>
              <a:rPr lang="it-IT" sz="4000" b="1" dirty="0">
                <a:latin typeface="Calibri" panose="020F0502020204030204" pitchFamily="34" charset="0"/>
                <a:ea typeface="Calibri" panose="020F0502020204030204" pitchFamily="34" charset="0"/>
                <a:cs typeface="Calibri" panose="020F0502020204030204" pitchFamily="34" charset="0"/>
              </a:rPr>
              <a:t>albo illustrato </a:t>
            </a:r>
            <a:r>
              <a:rPr lang="it-IT" sz="4000" dirty="0">
                <a:latin typeface="Calibri" panose="020F0502020204030204" pitchFamily="34" charset="0"/>
                <a:ea typeface="Calibri" panose="020F0502020204030204" pitchFamily="34" charset="0"/>
                <a:cs typeface="Calibri" panose="020F0502020204030204" pitchFamily="34" charset="0"/>
              </a:rPr>
              <a:t>sul trauma, si intitola «Il buco». Puoi  leggerlo se lo vuoi.</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Gli albi illustrati non sono pensati solo per i bimbi, ma aiutano a riflettere anche gli adulti, in modo leggero e profondo, dando </a:t>
            </a:r>
            <a:r>
              <a:rPr lang="it-IT" sz="4000" b="1" dirty="0">
                <a:latin typeface="Calibri" panose="020F0502020204030204" pitchFamily="34" charset="0"/>
                <a:ea typeface="Calibri" panose="020F0502020204030204" pitchFamily="34" charset="0"/>
                <a:cs typeface="Calibri" panose="020F0502020204030204" pitchFamily="34" charset="0"/>
              </a:rPr>
              <a:t>segnali di speranza</a:t>
            </a:r>
            <a:r>
              <a:rPr lang="it-IT" sz="40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4180002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a:extLst>
            <a:ext uri="{FF2B5EF4-FFF2-40B4-BE49-F238E27FC236}">
              <a16:creationId xmlns:a16="http://schemas.microsoft.com/office/drawing/2014/main" id="{BC534B08-72C0-A206-718E-20EACCCFB82F}"/>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CAA460AF-BD9D-EB46-DA2C-CCBBFF7B9901}"/>
              </a:ext>
            </a:extLst>
          </p:cNvPr>
          <p:cNvSpPr>
            <a:spLocks noGrp="1"/>
          </p:cNvSpPr>
          <p:nvPr>
            <p:ph type="ctrTitle"/>
          </p:nvPr>
        </p:nvSpPr>
        <p:spPr>
          <a:xfrm>
            <a:off x="686177" y="497719"/>
            <a:ext cx="10634451" cy="6023492"/>
          </a:xfrm>
        </p:spPr>
        <p:txBody>
          <a:bodyPr>
            <a:noAutofit/>
          </a:bodyPr>
          <a:lstStyle/>
          <a:p>
            <a:r>
              <a:rPr lang="it-IT" sz="4000" b="1" dirty="0">
                <a:latin typeface="Calibri" panose="020F0502020204030204" pitchFamily="34" charset="0"/>
                <a:ea typeface="Calibri" panose="020F0502020204030204" pitchFamily="34" charset="0"/>
                <a:cs typeface="Calibri" panose="020F0502020204030204" pitchFamily="34" charset="0"/>
              </a:rPr>
              <a:t>Grazie per aver scelto di fare questo viaggio!</a:t>
            </a:r>
            <a:br>
              <a:rPr lang="it-IT" sz="4000" b="1" dirty="0">
                <a:latin typeface="Calibri" panose="020F0502020204030204" pitchFamily="34" charset="0"/>
                <a:ea typeface="Calibri" panose="020F0502020204030204" pitchFamily="34" charset="0"/>
                <a:cs typeface="Calibri" panose="020F0502020204030204" pitchFamily="34" charset="0"/>
              </a:rPr>
            </a:br>
            <a:br>
              <a:rPr lang="it-IT" sz="4000" b="1"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Le persone accolte dalla Grangia di Monluè ne hanno fatti tanti e ancora ne faranno, ma anche  tu sei in viaggio nella tua vita…</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Chissà quali meravigliosi incontri ci porteranno questi viaggi, magari alcuni tratti del nostro cammino si incroceranno… come oggi!</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b="1" dirty="0">
                <a:latin typeface="Calibri" panose="020F0502020204030204" pitchFamily="34" charset="0"/>
                <a:ea typeface="Calibri" panose="020F0502020204030204" pitchFamily="34" charset="0"/>
                <a:cs typeface="Calibri" panose="020F0502020204030204" pitchFamily="34" charset="0"/>
              </a:rPr>
              <a:t>È stato bello incontrarsi!</a:t>
            </a:r>
          </a:p>
        </p:txBody>
      </p:sp>
    </p:spTree>
    <p:extLst>
      <p:ext uri="{BB962C8B-B14F-4D97-AF65-F5344CB8AC3E}">
        <p14:creationId xmlns:p14="http://schemas.microsoft.com/office/powerpoint/2010/main" val="287383156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14429</TotalTime>
  <Words>1239</Words>
  <Application>Microsoft Office PowerPoint</Application>
  <PresentationFormat>Widescreen</PresentationFormat>
  <Paragraphs>32</Paragraphs>
  <Slides>24</Slides>
  <Notes>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24</vt:i4>
      </vt:variant>
    </vt:vector>
  </HeadingPairs>
  <TitlesOfParts>
    <vt:vector size="29" baseType="lpstr">
      <vt:lpstr>Aptos</vt:lpstr>
      <vt:lpstr>Aptos Display</vt:lpstr>
      <vt:lpstr>Arial</vt:lpstr>
      <vt:lpstr>Calibri</vt:lpstr>
      <vt:lpstr>Tema di Office</vt:lpstr>
      <vt:lpstr>Buongiorno,  sei pronto per immergerti in un’esperienza riflessiva?  Ti anticipiamo che sarà un po’ impegnativa, ma crediamo possa avere un forte valore…</vt:lpstr>
      <vt:lpstr>Se sei ancora qui è perché hai accettato il nostro invito…  BUON VIAGGIO!</vt:lpstr>
      <vt:lpstr>Nel corso della storia,  troverai alcune domande che guideranno il tuo pensiero…  Di volta in volta ti indicheremo il colore di un foglietto su cui scrivere le risposte in modo anonimo, poi potrai riporre il foglietto nella scatola dello stesso colore.</vt:lpstr>
      <vt:lpstr>Presentazione standard di PowerPoint</vt:lpstr>
      <vt:lpstr>Ora ti chiediamo di immaginare …  Nella tua città e nel tuo stato ci sono grandi problemi, molto grandi…  … un problema talmente grande che ha a che fare con la sopravvivenza…</vt:lpstr>
      <vt:lpstr>Prendi la decisione di partire, migrare, è la soluzione che ti sembra migliore viste le condizioni, non sai di preciso dove andrai…  Immagina: a prescindere dalla tua situazione familiare, le condizioni ti obbligano a partire in solitaria … sai che sarà complesso e tu provi la via per poi eventualmente facilitare altri componenti della tua famiglia.</vt:lpstr>
      <vt:lpstr>   Scrivi poche parole sul  FOGLIETTO ROSSO  Quali emozioni provi all’idea di dover lasciare la tua attuale vita in condizioni d’emergenza, verso l’ignoto e lasciando persone care?  Quando hai risposto riponi il cartoncino nella scatola rossa</vt:lpstr>
      <vt:lpstr>   Scrivi poche parole sul  FOGLIETTO ARANCIONE  Quali emozioni provi all’idea di cosa ti aspetta nel luogo (che non conosci) dove andrai?  Quando hai risposto riponi il cartoncino nella scatola arancione</vt:lpstr>
      <vt:lpstr> Parti. Il viaggio è lungo e complesso, ci sono tante difficoltà, alcune che ti mettono a rischio vita, ma tu sopravvivi, non tutte le persone accanto a te hanno la stessa sorte… Ti richiede molti più soldi di quelli che avevi preventivato e anche tante energie fisiche e mentali.</vt:lpstr>
      <vt:lpstr>Giungi a destinazione senza soldi (li hai terminati nel viaggio), con tanta stanchezza e senza conoscere nessuno tranne poche persone incontrate sulla strada, con le quali hai condiviso tante fatiche, ma non le conosci davvero… Non sai parlare la lingua di questo nuovo Paese…</vt:lpstr>
      <vt:lpstr>Non sai dove andare e cosa fare, non hai soldi, ti senti tanta stanchezza addosso, hai fame e ti senti male…  </vt:lpstr>
      <vt:lpstr>Da alcuni conoscenti scopri che ci sono dei luoghi dove puoi essere ospitato, ti dicono dove andare… Ci vai, non avevi capito che ci fosse una lista d’attesa per l’ingresso…   Ti dicono dove andare a mangiare provvisoriamente, mentre attendi alcuni giorni l’ingresso… dormi per strada, per fortuna è estate!</vt:lpstr>
      <vt:lpstr>Finalmente arriva il giorno dell’ingresso nel  centro d’accoglienza!  Ti accolgono delle persone professioniste che ti leggono tante regole della casa e ti consegnano un regolamento che è tradotto nella tua lingua.  Da quanto comprendi avrai una stanza che condividerai con un’altra persona.  Non capisci proprio tutte le regole, ma la stanchezza ti impedisce di fare domande, vuoi riposarti. </vt:lpstr>
      <vt:lpstr>Durante i giorni successivi inizi a conoscere la casa dove sarai ospite per qualche tempo… Ti manca tanto la tua famiglia e il tuo Paese anche se sai che non potevi restare là… Finalmente ti riposi un po’… la stanchezza fisica e mentale accumulata è davvero tanta, non avresti mai immaginato di sentirti così!</vt:lpstr>
      <vt:lpstr>Prendi il  FOGLIETTO GIALLO  Ora che sei in accoglienza… Di cosa senti che avresti bisogno per sentirti bene? Pensa e scrivi tutti i bisogni e desideri che ti vengono in mente.</vt:lpstr>
      <vt:lpstr>È stato facile rispondere alla domanda precedente?  Non ti chiediamo di scriverlo… Sappi che per persone traumatizzate individuare e pensare ai propri desideri è molto difficile…  Ma il desiderio è ciò che ci rende vivi!</vt:lpstr>
      <vt:lpstr>Sei in questo nuovo Paese da un po’ di tempo, ma le complessità non sono terminate, solo modificate. Questo aspetto non lo avevi considerato.  Immaginavi che con l’arrivo a destinazione tutto sarebbe stato in discesa, ma non è così… I documenti sono molto difficili da ottenere sia per la burocrazia, ma anche per il trattamento durante gli accessi in Questura…  Spesso è mortificante…</vt:lpstr>
      <vt:lpstr>Imparare la nuova lingua è davvero complesso, soprattutto perché ci sono sempre tanti pensieri che ti affollano la mente… e poi… hai bisogno di lavorare, ma non trovi lavoro! L’assenza dalla conoscenza della lingua ti frena e soprattutto ti chiedono competenze molto diverse da quelle che tu hai… eppure te la sei sempre cavata nella vita e nel tuo Paese sentivi di avere un valore come persona… qui a volte ti viene da dubitarne… rispetto a questi standard.</vt:lpstr>
      <vt:lpstr>Altra cosa che non avevi considerato: quanto è difficile avere un colore della pelle diverso dalla maggior parte delle persone che vivono nel Paese dove abiti! Perché è così importante? E perché in molte situazioni ti capita di subire insulti e discriminazioni per questo? Capita così tante volte e quasi ti ci stai abituando, ma non bisogna abituarsi! Nota tecnica: si chiamano «micro aggressioni», sono sottili, quasi invisibili, ma hanno un impatto negativo fortissimo sulla persona!</vt:lpstr>
      <vt:lpstr>Da quando sei in accoglienza, riesci a contattare la tua famiglia… Non stanno bene, ti chiedono quando possono raggiungerti e di mandargli soldi…  ma tu non sai come aiutarli…</vt:lpstr>
      <vt:lpstr>La storia continua …  per ogni persona in un modo diverso …  Ci fermiamo qui nel nostro viaggio…  Tutte le persone sono piene di risorse e competenze che sicuramente metteranno in campo, ma forse, su temi così ampi e complessi, sarebbe importante una riflessione che va oltre l’individuale…</vt:lpstr>
      <vt:lpstr>Prendi il  FOGLIETTO AZZURRO  Cosa credi che potresti fare tu o anche noi per supportare le persone migranti?</vt:lpstr>
      <vt:lpstr>È stato complesso questo tuo viaggio immaginario?  Se lo desideri nell’altra stanza puoi trovare un albo illustrato sul trauma, si intitola «Il buco». Puoi  leggerlo se lo vuoi.  Gli albi illustrati non sono pensati solo per i bimbi, ma aiutano a riflettere anche gli adulti, in modo leggero e profondo, dando segnali di speranza. </vt:lpstr>
      <vt:lpstr>Grazie per aver scelto di fare questo viaggio!  Le persone accolte dalla Grangia di Monluè ne hanno fatti tanti e ancora ne faranno, ma anche  tu sei in viaggio nella tua vita…  Chissà quali meravigliosi incontri ci porteranno questi viaggi, magari alcuni tratti del nostro cammino si incroceranno… come oggi!  È stato bello incontrarsi!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Daniele Bergonzi</dc:creator>
  <cp:lastModifiedBy>Daniele Bergonzi</cp:lastModifiedBy>
  <cp:revision>30</cp:revision>
  <dcterms:created xsi:type="dcterms:W3CDTF">2026-07-21T06:32:04Z</dcterms:created>
  <dcterms:modified xsi:type="dcterms:W3CDTF">2026-09-10T20:12:36Z</dcterms:modified>
</cp:coreProperties>
</file>